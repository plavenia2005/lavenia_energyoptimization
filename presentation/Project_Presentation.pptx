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a74699e-9c32-d983-e3bb-2bdf9d5415c1}">
          <p14:sldIdLst>
            <p14:sldId id="256"/>
            <p14:sldId id="257"/>
            <p14:sldId id="258"/>
          </p14:sldIdLst>
        </p14:section>
        <p14:section name="Solution" id="{4ae7e249-04fa-f33e-45d2-98259e23b455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sults" id="{1d3a57c2-bb31-7379-bf5d-06ca2905d11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n-lt"/>
              </a:rPr>
              <a:t>LLM-as-a-judge (recorded run)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C8C7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8C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8C7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8C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Relevance</c:v>
                  </c:pt>
                  <c:pt idx="1">
                    <c:v>Actionability</c:v>
                  </c:pt>
                  <c:pt idx="2">
                    <c:v>Evidence support</c:v>
                  </c:pt>
                  <c:pt idx="3">
                    <c:v>Suitability</c:v>
                  </c:pt>
                  <c:pt idx="4">
                    <c:v>Overall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0.8</c:v>
                </c:pt>
                <c:pt idx="2">
                  <c:v>0.5</c:v>
                </c:pt>
                <c:pt idx="3">
                  <c:v>0.9</c:v>
                </c:pt>
                <c:pt idx="4">
                  <c:v>0.7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B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9E4E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local decision-support prototype that lets analysts search historical energy cases and get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Analysts face thousands of timestamped records. The dataset is UCI Appliances Energy Prediction; the pipeline produced 19,735 processed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 from the README, plus the scope caveat: this is a decision-support prototype and impact values are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stages: prepare data, retrieve evidence, analyze and recommend. Everything is served through FastAPI and Streamlit.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figure left to right: UI and API, data layer, hybrid RAG, multi-agent coordinator, LLM service, response and feedback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a record from the raw CSV to the Streamlit response. Hybrid weighting is a project-specific 70/30 semantic/keyword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and judge evaluation are optional and controlled by configuration; rule-based paths work without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named specialist agents. The coordinator is not counted as a tenth agent, and not every agent runs for every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backend and frontend in two terminals, then walk through the sample queries. Swagger UI shows exact request schemas.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scores from specific recorded runs, not guarantees for every query. Evidence support at 0.50 is the weakest dimension.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on the left, learnings and next steps on the right. Evidence grounding is the clearest area to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73736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02336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7373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AI-Powered Energy Consumption Optimization Assistant</a:t>
            </a:r>
            <a:endParaRPr lang="en-US" sz="4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023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Hybrid retrieval, multi-agent analysis and cost/carbon estimates for energy analysts</a:t>
            </a:r>
            <a:endParaRPr lang="en-US" sz="2000" dirty="0"/>
          </a:p>
        </p:txBody>
      </p:sp>
      <p:sp>
        <p:nvSpPr>
          <p:cNvPr id="4" name="Title bolt circle"/>
          <p:cNvSpPr/>
          <p:nvPr/>
        </p:nvSpPr>
        <p:spPr>
          <a:xfrm>
            <a:off x="9326880" y="219456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itle bolt icon" descr="Fa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5014" y="2812694"/>
            <a:ext cx="1141171" cy="1141171"/>
          </a:xfrm>
          <a:prstGeom prst="rect">
            <a:avLst/>
          </a:prstGeom>
        </p:spPr>
      </p:pic>
      <p:sp>
        <p:nvSpPr>
          <p:cNvPr id="6" name="Title footer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Lavenia Energy Optimization  |  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4" name="Stat card"/>
          <p:cNvSpPr/>
          <p:nvPr/>
        </p:nvSpPr>
        <p:spPr>
          <a:xfrm>
            <a:off x="548640" y="1463040"/>
            <a:ext cx="3840480" cy="45720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5" name="Stat circle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Stat icon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973275"/>
            <a:ext cx="351130" cy="351130"/>
          </a:xfrm>
          <a:prstGeom prst="rect">
            <a:avLst/>
          </a:prstGeom>
        </p:spPr>
      </p:pic>
      <p:sp>
        <p:nvSpPr>
          <p:cNvPr id="7" name="Stat number"/>
          <p:cNvSpPr txBox="1"/>
          <p:nvPr/>
        </p:nvSpPr>
        <p:spPr>
          <a:xfrm>
            <a:off x="868680" y="2743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19,735</a:t>
            </a:r>
            <a:endParaRPr lang="en-US" sz="6000" dirty="0"/>
          </a:p>
        </p:txBody>
      </p:sp>
      <p:sp>
        <p:nvSpPr>
          <p:cNvPr id="8" name="Stat label"/>
          <p:cNvSpPr txBox="1"/>
          <p:nvPr/>
        </p:nvSpPr>
        <p:spPr>
          <a:xfrm>
            <a:off x="868680" y="3840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processed energy cases an analyst would otherwise search by hand</a:t>
            </a:r>
            <a:endParaRPr lang="en-US" sz="1800" dirty="0"/>
          </a:p>
        </p:txBody>
      </p:sp>
      <p:sp>
        <p:nvSpPr>
          <p:cNvPr id="9" name="Stat source"/>
          <p:cNvSpPr txBox="1"/>
          <p:nvPr/>
        </p:nvSpPr>
        <p:spPr>
          <a:xfrm>
            <a:off x="868680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UCI Appliances Energy Prediction dataset</a:t>
            </a:r>
            <a:endParaRPr lang="en-US" sz="1200" dirty="0"/>
          </a:p>
        </p:txBody>
      </p:sp>
      <p:sp>
        <p:nvSpPr>
          <p:cNvPr id="10" name="Problem intro"/>
          <p:cNvSpPr txBox="1"/>
          <p:nvPr/>
        </p:nvSpPr>
        <p:spPr>
          <a:xfrm>
            <a:off x="4846320" y="14630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Analysts need to explore historical consumption records, spot high-consumption and peak-period cases, and act on evidence. Doing that manually is slow and inconsistent.</a:t>
            </a:r>
            <a:endParaRPr lang="en-US" sz="1800" dirty="0"/>
          </a:p>
        </p:txBody>
      </p:sp>
      <p:sp>
        <p:nvSpPr>
          <p:cNvPr id="11" name="Problem 1 circle"/>
          <p:cNvSpPr/>
          <p:nvPr/>
        </p:nvSpPr>
        <p:spPr>
          <a:xfrm>
            <a:off x="4846320" y="2743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Problem 1 icon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515" y="2933395"/>
            <a:ext cx="351130" cy="351130"/>
          </a:xfrm>
          <a:prstGeom prst="rect">
            <a:avLst/>
          </a:prstGeom>
        </p:spPr>
      </p:pic>
      <p:sp>
        <p:nvSpPr>
          <p:cNvPr id="13" name="Problem head 1"/>
          <p:cNvSpPr txBox="1"/>
          <p:nvPr/>
        </p:nvSpPr>
        <p:spPr>
          <a:xfrm>
            <a:off x="5852160" y="2743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Finding comparable cases</a:t>
            </a:r>
            <a:endParaRPr lang="en-US" sz="1800" dirty="0"/>
          </a:p>
        </p:txBody>
      </p:sp>
      <p:sp>
        <p:nvSpPr>
          <p:cNvPr id="14" name="Problem text 1"/>
          <p:cNvSpPr txBox="1"/>
          <p:nvPr/>
        </p:nvSpPr>
        <p:spPr>
          <a:xfrm>
            <a:off x="5852160" y="3127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 scenarios are buried in timestamped records.</a:t>
            </a:r>
            <a:endParaRPr lang="en-US" sz="1400" dirty="0"/>
          </a:p>
        </p:txBody>
      </p:sp>
      <p:sp>
        <p:nvSpPr>
          <p:cNvPr id="15" name="Problem 2 circle"/>
          <p:cNvSpPr/>
          <p:nvPr/>
        </p:nvSpPr>
        <p:spPr>
          <a:xfrm>
            <a:off x="4846320" y="3886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Problem 2 icon" descr="Fa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15" y="4076395"/>
            <a:ext cx="351130" cy="351130"/>
          </a:xfrm>
          <a:prstGeom prst="rect">
            <a:avLst/>
          </a:prstGeom>
        </p:spPr>
      </p:pic>
      <p:sp>
        <p:nvSpPr>
          <p:cNvPr id="17" name="Problem head 2"/>
          <p:cNvSpPr txBox="1"/>
          <p:nvPr/>
        </p:nvSpPr>
        <p:spPr>
          <a:xfrm>
            <a:off x="5852160" y="3886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Reading time patterns</a:t>
            </a:r>
            <a:endParaRPr lang="en-US" sz="1800" dirty="0"/>
          </a:p>
        </p:txBody>
      </p:sp>
      <p:sp>
        <p:nvSpPr>
          <p:cNvPr id="18" name="Problem text 2"/>
          <p:cNvSpPr txBox="1"/>
          <p:nvPr/>
        </p:nvSpPr>
        <p:spPr>
          <a:xfrm>
            <a:off x="5852160" y="4270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Peak hours, seasons and anomalies need context to interpret.</a:t>
            </a:r>
            <a:endParaRPr lang="en-US" sz="1400" dirty="0"/>
          </a:p>
        </p:txBody>
      </p:sp>
      <p:sp>
        <p:nvSpPr>
          <p:cNvPr id="19" name="Problem 3 circle"/>
          <p:cNvSpPr/>
          <p:nvPr/>
        </p:nvSpPr>
        <p:spPr>
          <a:xfrm>
            <a:off x="4846320" y="5029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roblem 3 icon" descr="FaLightbul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515" y="5219395"/>
            <a:ext cx="351130" cy="351130"/>
          </a:xfrm>
          <a:prstGeom prst="rect">
            <a:avLst/>
          </a:prstGeom>
        </p:spPr>
      </p:pic>
      <p:sp>
        <p:nvSpPr>
          <p:cNvPr id="21" name="Problem head 3"/>
          <p:cNvSpPr txBox="1"/>
          <p:nvPr/>
        </p:nvSpPr>
        <p:spPr>
          <a:xfrm>
            <a:off x="5852160" y="5029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Turning data into action</a:t>
            </a:r>
            <a:endParaRPr lang="en-US" sz="1800" dirty="0"/>
          </a:p>
        </p:txBody>
      </p:sp>
      <p:sp>
        <p:nvSpPr>
          <p:cNvPr id="22" name="Problem text 3"/>
          <p:cNvSpPr txBox="1"/>
          <p:nvPr/>
        </p:nvSpPr>
        <p:spPr>
          <a:xfrm>
            <a:off x="5852160" y="5413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Guidance should be tied to evidence, not generic tips.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Business Need</a:t>
            </a:r>
            <a:endParaRPr lang="en-US" sz="3200" dirty="0"/>
          </a:p>
        </p:txBody>
      </p:sp>
      <p:sp>
        <p:nvSpPr>
          <p:cNvPr id="4" name="Need card 1"/>
          <p:cNvSpPr/>
          <p:nvPr/>
        </p:nvSpPr>
        <p:spPr>
          <a:xfrm>
            <a:off x="54864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5" name="Need 1 circle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Need 1 icon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891894"/>
            <a:ext cx="285293" cy="285293"/>
          </a:xfrm>
          <a:prstGeom prst="rect">
            <a:avLst/>
          </a:prstGeom>
        </p:spPr>
      </p:pic>
      <p:sp>
        <p:nvSpPr>
          <p:cNvPr id="7" name="Need head 1"/>
          <p:cNvSpPr txBox="1"/>
          <p:nvPr/>
        </p:nvSpPr>
        <p:spPr>
          <a:xfrm>
            <a:off x="82296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Find relevant cases</a:t>
            </a:r>
            <a:endParaRPr lang="en-US" sz="1800" dirty="0"/>
          </a:p>
        </p:txBody>
      </p:sp>
      <p:sp>
        <p:nvSpPr>
          <p:cNvPr id="8" name="Need text 1"/>
          <p:cNvSpPr txBox="1"/>
          <p:nvPr/>
        </p:nvSpPr>
        <p:spPr>
          <a:xfrm>
            <a:off x="82296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Make similar historical energy cases easy to retrieve.</a:t>
            </a:r>
            <a:endParaRPr lang="en-US" sz="1400" dirty="0"/>
          </a:p>
        </p:txBody>
      </p:sp>
      <p:sp>
        <p:nvSpPr>
          <p:cNvPr id="9" name="Need card 2"/>
          <p:cNvSpPr/>
          <p:nvPr/>
        </p:nvSpPr>
        <p:spPr>
          <a:xfrm>
            <a:off x="429768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0" name="Need 2 circle"/>
          <p:cNvSpPr/>
          <p:nvPr/>
        </p:nvSpPr>
        <p:spPr>
          <a:xfrm>
            <a:off x="4572000" y="17373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Need 2 icon" descr="Fa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534" y="1891894"/>
            <a:ext cx="285293" cy="285293"/>
          </a:xfrm>
          <a:prstGeom prst="rect">
            <a:avLst/>
          </a:prstGeom>
        </p:spPr>
      </p:pic>
      <p:sp>
        <p:nvSpPr>
          <p:cNvPr id="12" name="Need head 2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Investigate peaks</a:t>
            </a:r>
            <a:endParaRPr lang="en-US" sz="1800" dirty="0"/>
          </a:p>
        </p:txBody>
      </p:sp>
      <p:sp>
        <p:nvSpPr>
          <p:cNvPr id="13" name="Need text 2"/>
          <p:cNvSpPr txBox="1"/>
          <p:nvPr/>
        </p:nvSpPr>
        <p:spPr>
          <a:xfrm>
            <a:off x="457200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Support analysis of high-consumption and peak-period scenarios.</a:t>
            </a:r>
            <a:endParaRPr lang="en-US" sz="1400" dirty="0"/>
          </a:p>
        </p:txBody>
      </p:sp>
      <p:sp>
        <p:nvSpPr>
          <p:cNvPr id="14" name="Need card 3"/>
          <p:cNvSpPr/>
          <p:nvPr/>
        </p:nvSpPr>
        <p:spPr>
          <a:xfrm>
            <a:off x="804672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5" name="Need 3 circle"/>
          <p:cNvSpPr/>
          <p:nvPr/>
        </p:nvSpPr>
        <p:spPr>
          <a:xfrm>
            <a:off x="8321040" y="17373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Need 3 icon" descr="Fa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1891894"/>
            <a:ext cx="285293" cy="285293"/>
          </a:xfrm>
          <a:prstGeom prst="rect">
            <a:avLst/>
          </a:prstGeom>
        </p:spPr>
      </p:pic>
      <p:sp>
        <p:nvSpPr>
          <p:cNvPr id="17" name="Need head 3"/>
          <p:cNvSpPr txBox="1"/>
          <p:nvPr/>
        </p:nvSpPr>
        <p:spPr>
          <a:xfrm>
            <a:off x="832104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Recommend actions</a:t>
            </a:r>
            <a:endParaRPr lang="en-US" sz="1800" dirty="0"/>
          </a:p>
        </p:txBody>
      </p:sp>
      <p:sp>
        <p:nvSpPr>
          <p:cNvPr id="18" name="Need text 3"/>
          <p:cNvSpPr txBox="1"/>
          <p:nvPr/>
        </p:nvSpPr>
        <p:spPr>
          <a:xfrm>
            <a:off x="832104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Rule-based and optional LLM-assisted optimization advice.</a:t>
            </a:r>
            <a:endParaRPr lang="en-US" sz="1400" dirty="0"/>
          </a:p>
        </p:txBody>
      </p:sp>
      <p:sp>
        <p:nvSpPr>
          <p:cNvPr id="19" name="Need card 4"/>
          <p:cNvSpPr/>
          <p:nvPr/>
        </p:nvSpPr>
        <p:spPr>
          <a:xfrm>
            <a:off x="548640" y="3886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0" name="Need 4 circle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Need 4 icon" descr="FaDollarSig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4315054"/>
            <a:ext cx="285293" cy="285293"/>
          </a:xfrm>
          <a:prstGeom prst="rect">
            <a:avLst/>
          </a:prstGeom>
        </p:spPr>
      </p:pic>
      <p:sp>
        <p:nvSpPr>
          <p:cNvPr id="22" name="Need head 4"/>
          <p:cNvSpPr txBox="1"/>
          <p:nvPr/>
        </p:nvSpPr>
        <p:spPr>
          <a:xfrm>
            <a:off x="8229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Estimate impact</a:t>
            </a:r>
            <a:endParaRPr lang="en-US" sz="1800" dirty="0"/>
          </a:p>
        </p:txBody>
      </p:sp>
      <p:sp>
        <p:nvSpPr>
          <p:cNvPr id="23" name="Need text 4"/>
          <p:cNvSpPr txBox="1"/>
          <p:nvPr/>
        </p:nvSpPr>
        <p:spPr>
          <a:xfrm>
            <a:off x="822960" y="5257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Scenario-based cost and carbon estimates from supplied inputs.</a:t>
            </a:r>
            <a:endParaRPr lang="en-US" sz="1400" dirty="0"/>
          </a:p>
        </p:txBody>
      </p:sp>
      <p:sp>
        <p:nvSpPr>
          <p:cNvPr id="24" name="Need card 5"/>
          <p:cNvSpPr/>
          <p:nvPr/>
        </p:nvSpPr>
        <p:spPr>
          <a:xfrm>
            <a:off x="4297680" y="3886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5" name="Need 5 circle"/>
          <p:cNvSpPr/>
          <p:nvPr/>
        </p:nvSpPr>
        <p:spPr>
          <a:xfrm>
            <a:off x="4572000" y="41605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Need 5 icon" descr="FaClipboar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534" y="4315054"/>
            <a:ext cx="285293" cy="285293"/>
          </a:xfrm>
          <a:prstGeom prst="rect">
            <a:avLst/>
          </a:prstGeom>
        </p:spPr>
      </p:pic>
      <p:sp>
        <p:nvSpPr>
          <p:cNvPr id="27" name="Need head 5"/>
          <p:cNvSpPr txBox="1"/>
          <p:nvPr/>
        </p:nvSpPr>
        <p:spPr>
          <a:xfrm>
            <a:off x="457200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Review quality</a:t>
            </a:r>
            <a:endParaRPr lang="en-US" sz="1800" dirty="0"/>
          </a:p>
        </p:txBody>
      </p:sp>
      <p:sp>
        <p:nvSpPr>
          <p:cNvPr id="28" name="Need text 5"/>
          <p:cNvSpPr txBox="1"/>
          <p:nvPr/>
        </p:nvSpPr>
        <p:spPr>
          <a:xfrm>
            <a:off x="4572000" y="5257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Feedback and evaluation help judge output quality.</a:t>
            </a:r>
            <a:endParaRPr lang="en-US" sz="1400" dirty="0"/>
          </a:p>
        </p:txBody>
      </p:sp>
      <p:sp>
        <p:nvSpPr>
          <p:cNvPr id="29" name="Scope card"/>
          <p:cNvSpPr/>
          <p:nvPr/>
        </p:nvSpPr>
        <p:spPr>
          <a:xfrm>
            <a:off x="8046720" y="3886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30" name="Scope head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Scope</a:t>
            </a:r>
            <a:endParaRPr lang="en-US" sz="1800" dirty="0"/>
          </a:p>
        </p:txBody>
      </p:sp>
      <p:sp>
        <p:nvSpPr>
          <p:cNvPr id="31" name="Scope text"/>
          <p:cNvSpPr txBox="1"/>
          <p:nvPr/>
        </p:nvSpPr>
        <p:spPr>
          <a:xfrm>
            <a:off x="832104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decision-support prototype. Cost, carbon and reduction values are estimates, not verified savings.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Solution Overview</a:t>
            </a:r>
            <a:endParaRPr lang="en-US" sz="3200" dirty="0"/>
          </a:p>
        </p:txBody>
      </p:sp>
      <p:sp>
        <p:nvSpPr>
          <p:cNvPr id="4" name="Solution tagline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A natural-language interface over processed energy cases and a recommendation workflow</a:t>
            </a:r>
            <a:endParaRPr lang="en-US" sz="1800" dirty="0"/>
          </a:p>
        </p:txBody>
      </p:sp>
      <p:sp>
        <p:nvSpPr>
          <p:cNvPr id="5" name="Solution card 1"/>
          <p:cNvSpPr/>
          <p:nvPr/>
        </p:nvSpPr>
        <p:spPr>
          <a:xfrm>
            <a:off x="548640" y="201168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6" name="Solution 1 circle"/>
          <p:cNvSpPr/>
          <p:nvPr/>
        </p:nvSpPr>
        <p:spPr>
          <a:xfrm>
            <a:off x="822960" y="22860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Solution 1 icon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440534"/>
            <a:ext cx="285293" cy="285293"/>
          </a:xfrm>
          <a:prstGeom prst="rect">
            <a:avLst/>
          </a:prstGeom>
        </p:spPr>
      </p:pic>
      <p:sp>
        <p:nvSpPr>
          <p:cNvPr id="8" name="Solution head 1"/>
          <p:cNvSpPr txBox="1"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Prepare the data</a:t>
            </a:r>
            <a:endParaRPr lang="en-US" sz="2000" dirty="0"/>
          </a:p>
        </p:txBody>
      </p:sp>
      <p:sp>
        <p:nvSpPr>
          <p:cNvPr id="9" name="Solution bullets 1"/>
          <p:cNvSpPr txBox="1"/>
          <p:nvPr/>
        </p:nvSpPr>
        <p:spPr>
          <a:xfrm>
            <a:off x="822960" y="34747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Preprocess timestamps and consumption fields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Derive time, deviation and anomaly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19,735 searchable cases</a:t>
            </a:r>
            <a:endParaRPr lang="en-US" sz="1400" dirty="0"/>
          </a:p>
        </p:txBody>
      </p:sp>
      <p:sp>
        <p:nvSpPr>
          <p:cNvPr id="10" name="Solution card 2"/>
          <p:cNvSpPr/>
          <p:nvPr/>
        </p:nvSpPr>
        <p:spPr>
          <a:xfrm>
            <a:off x="4297680" y="201168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1" name="Solution 2 circle"/>
          <p:cNvSpPr/>
          <p:nvPr/>
        </p:nvSpPr>
        <p:spPr>
          <a:xfrm>
            <a:off x="4572000" y="22860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olution 2 icon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534" y="2440534"/>
            <a:ext cx="285293" cy="285293"/>
          </a:xfrm>
          <a:prstGeom prst="rect">
            <a:avLst/>
          </a:prstGeom>
        </p:spPr>
      </p:pic>
      <p:sp>
        <p:nvSpPr>
          <p:cNvPr id="13" name="Solution head 2"/>
          <p:cNvSpPr txBox="1"/>
          <p:nvPr/>
        </p:nvSpPr>
        <p:spPr>
          <a:xfrm>
            <a:off x="45720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Retrieve evidence</a:t>
            </a:r>
            <a:endParaRPr lang="en-US" sz="2000" dirty="0"/>
          </a:p>
        </p:txBody>
      </p:sp>
      <p:sp>
        <p:nvSpPr>
          <p:cNvPr id="14" name="Solution bullets 2"/>
          <p:cNvSpPr txBox="1"/>
          <p:nvPr/>
        </p:nvSpPr>
        <p:spPr>
          <a:xfrm>
            <a:off x="4572000" y="34747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Embed cases with all-MiniLM-L6-v2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 vectors in ChromaDB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Blend semantic and keyword search</a:t>
            </a:r>
            <a:endParaRPr lang="en-US" sz="1400" dirty="0"/>
          </a:p>
        </p:txBody>
      </p:sp>
      <p:sp>
        <p:nvSpPr>
          <p:cNvPr id="15" name="Solution card 3"/>
          <p:cNvSpPr/>
          <p:nvPr/>
        </p:nvSpPr>
        <p:spPr>
          <a:xfrm>
            <a:off x="8046720" y="201168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6" name="Solution 3 circle"/>
          <p:cNvSpPr/>
          <p:nvPr/>
        </p:nvSpPr>
        <p:spPr>
          <a:xfrm>
            <a:off x="8321040" y="22860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Solution 3 icon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2440534"/>
            <a:ext cx="285293" cy="285293"/>
          </a:xfrm>
          <a:prstGeom prst="rect">
            <a:avLst/>
          </a:prstGeom>
        </p:spPr>
      </p:pic>
      <p:sp>
        <p:nvSpPr>
          <p:cNvPr id="18" name="Solution head 3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Analyze and recommend</a:t>
            </a:r>
            <a:endParaRPr lang="en-US" sz="2000" dirty="0"/>
          </a:p>
        </p:txBody>
      </p:sp>
      <p:sp>
        <p:nvSpPr>
          <p:cNvPr id="19" name="Solution bullets 3"/>
          <p:cNvSpPr txBox="1"/>
          <p:nvPr/>
        </p:nvSpPr>
        <p:spPr>
          <a:xfrm>
            <a:off x="8321040" y="34747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Coordinator routes query and context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 paths, optional LLM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Cost and carbon estimates</a:t>
            </a:r>
            <a:endParaRPr lang="en-US" sz="1400" dirty="0"/>
          </a:p>
        </p:txBody>
      </p:sp>
      <p:sp>
        <p:nvSpPr>
          <p:cNvPr id="20" name="Delivery strip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1" name="Delivery text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Delivered through a FastAPI backend and a Streamlit interface, with feedback and evaluation endpoints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</a:t>
            </a:r>
            <a:endParaRPr lang="en-US" sz="3200" dirty="0"/>
          </a:p>
        </p:txBody>
      </p:sp>
      <p:pic>
        <p:nvPicPr>
          <p:cNvPr id="4" name="Architecture diagram" descr="High-level architecture diagram of the energy optimization assist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315200" cy="4873752"/>
          </a:xfrm>
          <a:prstGeom prst="rect">
            <a:avLst/>
          </a:prstGeom>
        </p:spPr>
      </p:pic>
      <p:sp>
        <p:nvSpPr>
          <p:cNvPr id="5" name="Arch num 1"/>
          <p:cNvSpPr/>
          <p:nvPr/>
        </p:nvSpPr>
        <p:spPr>
          <a:xfrm>
            <a:off x="8138160" y="1417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Arch num 1 num"/>
          <p:cNvSpPr txBox="1"/>
          <p:nvPr/>
        </p:nvSpPr>
        <p:spPr>
          <a:xfrm>
            <a:off x="81381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Arch head 1"/>
          <p:cNvSpPr txBox="1"/>
          <p:nvPr/>
        </p:nvSpPr>
        <p:spPr>
          <a:xfrm>
            <a:off x="877824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Interface layer</a:t>
            </a:r>
            <a:endParaRPr lang="en-US" sz="1600" dirty="0"/>
          </a:p>
        </p:txBody>
      </p:sp>
      <p:sp>
        <p:nvSpPr>
          <p:cNvPr id="8" name="Arch text 1"/>
          <p:cNvSpPr txBox="1"/>
          <p:nvPr/>
        </p:nvSpPr>
        <p:spPr>
          <a:xfrm>
            <a:off x="8778240" y="17647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Streamlit sends queries to a FastAPI backend.</a:t>
            </a:r>
            <a:endParaRPr lang="en-US" sz="1400" dirty="0"/>
          </a:p>
        </p:txBody>
      </p:sp>
      <p:sp>
        <p:nvSpPr>
          <p:cNvPr id="9" name="Arch num 2"/>
          <p:cNvSpPr/>
          <p:nvPr/>
        </p:nvSpPr>
        <p:spPr>
          <a:xfrm>
            <a:off x="8138160" y="2651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Arch num 2 num"/>
          <p:cNvSpPr txBox="1"/>
          <p:nvPr/>
        </p:nvSpPr>
        <p:spPr>
          <a:xfrm>
            <a:off x="81381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Arch head 2"/>
          <p:cNvSpPr txBox="1"/>
          <p:nvPr/>
        </p:nvSpPr>
        <p:spPr>
          <a:xfrm>
            <a:off x="877824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Knowledge and retrieval</a:t>
            </a:r>
            <a:endParaRPr lang="en-US" sz="1600" dirty="0"/>
          </a:p>
        </p:txBody>
      </p:sp>
      <p:sp>
        <p:nvSpPr>
          <p:cNvPr id="12" name="Arch text 2"/>
          <p:cNvSpPr txBox="1"/>
          <p:nvPr/>
        </p:nvSpPr>
        <p:spPr>
          <a:xfrm>
            <a:off x="8778240" y="299923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ChromaDB vectors plus keyword search, merged by hybrid ranking.</a:t>
            </a:r>
            <a:endParaRPr lang="en-US" sz="1400" dirty="0"/>
          </a:p>
        </p:txBody>
      </p:sp>
      <p:sp>
        <p:nvSpPr>
          <p:cNvPr id="13" name="Arch num 3"/>
          <p:cNvSpPr/>
          <p:nvPr/>
        </p:nvSpPr>
        <p:spPr>
          <a:xfrm>
            <a:off x="8138160" y="3886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rch num 3 num"/>
          <p:cNvSpPr txBox="1"/>
          <p:nvPr/>
        </p:nvSpPr>
        <p:spPr>
          <a:xfrm>
            <a:off x="81381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Arch head 3"/>
          <p:cNvSpPr txBox="1"/>
          <p:nvPr/>
        </p:nvSpPr>
        <p:spPr>
          <a:xfrm>
            <a:off x="877824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Coordinator and agents</a:t>
            </a:r>
            <a:endParaRPr lang="en-US" sz="1600" dirty="0"/>
          </a:p>
        </p:txBody>
      </p:sp>
      <p:sp>
        <p:nvSpPr>
          <p:cNvPr id="16" name="Arch text 3"/>
          <p:cNvSpPr txBox="1"/>
          <p:nvPr/>
        </p:nvSpPr>
        <p:spPr>
          <a:xfrm>
            <a:off x="8778240" y="42336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src/agents/a2a.py routes each query through specialist agents.</a:t>
            </a:r>
            <a:endParaRPr lang="en-US" sz="1400" dirty="0"/>
          </a:p>
        </p:txBody>
      </p:sp>
      <p:sp>
        <p:nvSpPr>
          <p:cNvPr id="17" name="Arch num 4"/>
          <p:cNvSpPr/>
          <p:nvPr/>
        </p:nvSpPr>
        <p:spPr>
          <a:xfrm>
            <a:off x="8138160" y="5120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Arch num 4 num"/>
          <p:cNvSpPr txBox="1"/>
          <p:nvPr/>
        </p:nvSpPr>
        <p:spPr>
          <a:xfrm>
            <a:off x="81381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Arch head 4"/>
          <p:cNvSpPr txBox="1"/>
          <p:nvPr/>
        </p:nvSpPr>
        <p:spPr>
          <a:xfrm>
            <a:off x="8778240" y="5120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LLM, evaluation, feedback</a:t>
            </a:r>
            <a:endParaRPr lang="en-US" sz="1600" dirty="0"/>
          </a:p>
        </p:txBody>
      </p:sp>
      <p:sp>
        <p:nvSpPr>
          <p:cNvPr id="20" name="Arch text 4"/>
          <p:cNvSpPr txBox="1"/>
          <p:nvPr/>
        </p:nvSpPr>
        <p:spPr>
          <a:xfrm>
            <a:off x="8778240" y="546811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 LLM analysis, judge scoring and a user feedback loop.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Flow</a:t>
            </a:r>
            <a:endParaRPr lang="en-US" sz="3200" dirty="0"/>
          </a:p>
        </p:txBody>
      </p:sp>
      <p:sp>
        <p:nvSpPr>
          <p:cNvPr id="4" name="Flow card 1"/>
          <p:cNvSpPr/>
          <p:nvPr/>
        </p:nvSpPr>
        <p:spPr>
          <a:xfrm>
            <a:off x="548640" y="146304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Flow num 1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Flow num 1 num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Flow head 1"/>
          <p:cNvSpPr txBox="1"/>
          <p:nvPr/>
        </p:nvSpPr>
        <p:spPr>
          <a:xfrm>
            <a:off x="14173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Raw data</a:t>
            </a:r>
            <a:endParaRPr lang="en-US" sz="1800" dirty="0"/>
          </a:p>
        </p:txBody>
      </p:sp>
      <p:sp>
        <p:nvSpPr>
          <p:cNvPr id="8" name="Flow text 1"/>
          <p:cNvSpPr txBox="1"/>
          <p:nvPr/>
        </p:nvSpPr>
        <p:spPr>
          <a:xfrm>
            <a:off x="777240" y="2286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UCI Appliances Energy Prediction: timestamped consumption and environment readings.</a:t>
            </a:r>
            <a:endParaRPr lang="en-US" sz="1400" dirty="0"/>
          </a:p>
        </p:txBody>
      </p:sp>
      <p:sp>
        <p:nvSpPr>
          <p:cNvPr id="9" name="Flow arrow 1"/>
          <p:cNvSpPr/>
          <p:nvPr/>
        </p:nvSpPr>
        <p:spPr>
          <a:xfrm>
            <a:off x="3950208" y="21945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Flow card 2"/>
          <p:cNvSpPr/>
          <p:nvPr/>
        </p:nvSpPr>
        <p:spPr>
          <a:xfrm>
            <a:off x="4434840" y="146304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1" name="Flow num 2"/>
          <p:cNvSpPr/>
          <p:nvPr/>
        </p:nvSpPr>
        <p:spPr>
          <a:xfrm>
            <a:off x="4663440" y="1691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Flow num 2 num"/>
          <p:cNvSpPr txBox="1"/>
          <p:nvPr/>
        </p:nvSpPr>
        <p:spPr>
          <a:xfrm>
            <a:off x="46634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Flow head 2"/>
          <p:cNvSpPr txBox="1"/>
          <p:nvPr/>
        </p:nvSpPr>
        <p:spPr>
          <a:xfrm>
            <a:off x="53035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Preprocess</a:t>
            </a:r>
            <a:endParaRPr lang="en-US" sz="1800" dirty="0"/>
          </a:p>
        </p:txBody>
      </p:sp>
      <p:sp>
        <p:nvSpPr>
          <p:cNvPr id="14" name="Flow text 2"/>
          <p:cNvSpPr txBox="1"/>
          <p:nvPr/>
        </p:nvSpPr>
        <p:spPr>
          <a:xfrm>
            <a:off x="4663440" y="2286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Derive time, rolling-average, deviation and anomaly features into processed cases.</a:t>
            </a:r>
            <a:endParaRPr lang="en-US" sz="1400" dirty="0"/>
          </a:p>
        </p:txBody>
      </p:sp>
      <p:sp>
        <p:nvSpPr>
          <p:cNvPr id="15" name="Flow arrow 2"/>
          <p:cNvSpPr/>
          <p:nvPr/>
        </p:nvSpPr>
        <p:spPr>
          <a:xfrm>
            <a:off x="7836408" y="21945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Flow card 3"/>
          <p:cNvSpPr/>
          <p:nvPr/>
        </p:nvSpPr>
        <p:spPr>
          <a:xfrm>
            <a:off x="8321040" y="146304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7" name="Flow num 3"/>
          <p:cNvSpPr/>
          <p:nvPr/>
        </p:nvSpPr>
        <p:spPr>
          <a:xfrm>
            <a:off x="8549640" y="1691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Flow num 3 num"/>
          <p:cNvSpPr txBox="1"/>
          <p:nvPr/>
        </p:nvSpPr>
        <p:spPr>
          <a:xfrm>
            <a:off x="8549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Flow head 3"/>
          <p:cNvSpPr txBox="1"/>
          <p:nvPr/>
        </p:nvSpPr>
        <p:spPr>
          <a:xfrm>
            <a:off x="91897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Embed and index</a:t>
            </a:r>
            <a:endParaRPr lang="en-US" sz="1800" dirty="0"/>
          </a:p>
        </p:txBody>
      </p:sp>
      <p:sp>
        <p:nvSpPr>
          <p:cNvPr id="20" name="Flow text 3"/>
          <p:cNvSpPr txBox="1"/>
          <p:nvPr/>
        </p:nvSpPr>
        <p:spPr>
          <a:xfrm>
            <a:off x="8549640" y="2286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all-MiniLM-L6-v2 embeddings stored in ChromaDB with the knowledge base.</a:t>
            </a:r>
            <a:endParaRPr lang="en-US" sz="1400" dirty="0"/>
          </a:p>
        </p:txBody>
      </p:sp>
      <p:sp>
        <p:nvSpPr>
          <p:cNvPr id="21" name="Flow card 4"/>
          <p:cNvSpPr/>
          <p:nvPr/>
        </p:nvSpPr>
        <p:spPr>
          <a:xfrm>
            <a:off x="548640" y="352044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2" name="Flow num 4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Flow num 4 num"/>
          <p:cNvSpPr txBox="1"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Flow head 4"/>
          <p:cNvSpPr txBox="1"/>
          <p:nvPr/>
        </p:nvSpPr>
        <p:spPr>
          <a:xfrm>
            <a:off x="14173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Hybrid retrieve</a:t>
            </a:r>
            <a:endParaRPr lang="en-US" sz="1800" dirty="0"/>
          </a:p>
        </p:txBody>
      </p:sp>
      <p:sp>
        <p:nvSpPr>
          <p:cNvPr id="25" name="Flow text 4"/>
          <p:cNvSpPr txBox="1"/>
          <p:nvPr/>
        </p:nvSpPr>
        <p:spPr>
          <a:xfrm>
            <a:off x="777240" y="43434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Semantic and keyword search, weighted about 70/30, returns top-k context.</a:t>
            </a:r>
            <a:endParaRPr lang="en-US" sz="1400" dirty="0"/>
          </a:p>
        </p:txBody>
      </p:sp>
      <p:sp>
        <p:nvSpPr>
          <p:cNvPr id="26" name="Flow arrow 4"/>
          <p:cNvSpPr/>
          <p:nvPr/>
        </p:nvSpPr>
        <p:spPr>
          <a:xfrm>
            <a:off x="3950208" y="42519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7" name="Flow card 5"/>
          <p:cNvSpPr/>
          <p:nvPr/>
        </p:nvSpPr>
        <p:spPr>
          <a:xfrm>
            <a:off x="4434840" y="352044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8" name="Flow num 5"/>
          <p:cNvSpPr/>
          <p:nvPr/>
        </p:nvSpPr>
        <p:spPr>
          <a:xfrm>
            <a:off x="4663440" y="3749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Flow num 5 num"/>
          <p:cNvSpPr txBox="1"/>
          <p:nvPr/>
        </p:nvSpPr>
        <p:spPr>
          <a:xfrm>
            <a:off x="46634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Flow head 5"/>
          <p:cNvSpPr txBox="1"/>
          <p:nvPr/>
        </p:nvSpPr>
        <p:spPr>
          <a:xfrm>
            <a:off x="53035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Analyze</a:t>
            </a:r>
            <a:endParaRPr lang="en-US" sz="1800" dirty="0"/>
          </a:p>
        </p:txBody>
      </p:sp>
      <p:sp>
        <p:nvSpPr>
          <p:cNvPr id="31" name="Flow text 5"/>
          <p:cNvSpPr txBox="1"/>
          <p:nvPr/>
        </p:nvSpPr>
        <p:spPr>
          <a:xfrm>
            <a:off x="4663440" y="43434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Coordinator and specialist agents, with rule-based paths or optional LLM analysis.</a:t>
            </a:r>
            <a:endParaRPr lang="en-US" sz="1400" dirty="0"/>
          </a:p>
        </p:txBody>
      </p:sp>
      <p:sp>
        <p:nvSpPr>
          <p:cNvPr id="32" name="Flow arrow 5"/>
          <p:cNvSpPr/>
          <p:nvPr/>
        </p:nvSpPr>
        <p:spPr>
          <a:xfrm>
            <a:off x="7836408" y="42519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3" name="Flow card 6"/>
          <p:cNvSpPr/>
          <p:nvPr/>
        </p:nvSpPr>
        <p:spPr>
          <a:xfrm>
            <a:off x="8321040" y="352044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4" name="Flow num 6"/>
          <p:cNvSpPr/>
          <p:nvPr/>
        </p:nvSpPr>
        <p:spPr>
          <a:xfrm>
            <a:off x="8549640" y="3749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Flow num 6 num"/>
          <p:cNvSpPr txBox="1"/>
          <p:nvPr/>
        </p:nvSpPr>
        <p:spPr>
          <a:xfrm>
            <a:off x="8549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Flow head 6"/>
          <p:cNvSpPr txBox="1"/>
          <p:nvPr/>
        </p:nvSpPr>
        <p:spPr>
          <a:xfrm>
            <a:off x="91897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Respond and learn</a:t>
            </a:r>
            <a:endParaRPr lang="en-US" sz="1800" dirty="0"/>
          </a:p>
        </p:txBody>
      </p:sp>
      <p:sp>
        <p:nvSpPr>
          <p:cNvPr id="37" name="Flow text 6"/>
          <p:cNvSpPr txBox="1"/>
          <p:nvPr/>
        </p:nvSpPr>
        <p:spPr>
          <a:xfrm>
            <a:off x="8549640" y="43434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returns results to Streamlit; feedback routes capture user input.</a:t>
            </a:r>
            <a:endParaRPr lang="en-US" sz="1400" dirty="0"/>
          </a:p>
        </p:txBody>
      </p:sp>
      <p:sp>
        <p:nvSpPr>
          <p:cNvPr id="38" name="Paths strip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39" name="Paths text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 raw/energy_consumption.csv &gt; processed/energy_cases.csv + knowledge_base/energy_best_practices.csv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4" name="Tech card 1"/>
          <p:cNvSpPr/>
          <p:nvPr/>
        </p:nvSpPr>
        <p:spPr>
          <a:xfrm>
            <a:off x="548640" y="14630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ch 1 circle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Tech 1 icon" descr="Fa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62886"/>
            <a:ext cx="263347" cy="263347"/>
          </a:xfrm>
          <a:prstGeom prst="rect">
            <a:avLst/>
          </a:prstGeom>
        </p:spPr>
      </p:pic>
      <p:sp>
        <p:nvSpPr>
          <p:cNvPr id="7" name="Tech label 1"/>
          <p:cNvSpPr txBox="1"/>
          <p:nvPr/>
        </p:nvSpPr>
        <p:spPr>
          <a:xfrm>
            <a:off x="15544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LANGUAGE AND DATA</a:t>
            </a:r>
            <a:endParaRPr lang="en-US" sz="1200" dirty="0"/>
          </a:p>
        </p:txBody>
      </p:sp>
      <p:sp>
        <p:nvSpPr>
          <p:cNvPr id="8" name="Tech name 1"/>
          <p:cNvSpPr txBox="1"/>
          <p:nvPr/>
        </p:nvSpPr>
        <p:spPr>
          <a:xfrm>
            <a:off x="1554480" y="1993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Python + Pandas</a:t>
            </a:r>
            <a:endParaRPr lang="en-US" sz="1800" dirty="0"/>
          </a:p>
        </p:txBody>
      </p:sp>
      <p:sp>
        <p:nvSpPr>
          <p:cNvPr id="9" name="Tech sub 1"/>
          <p:cNvSpPr txBox="1"/>
          <p:nvPr/>
        </p:nvSpPr>
        <p:spPr>
          <a:xfrm>
            <a:off x="155448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 datasets, preprocessing</a:t>
            </a:r>
            <a:endParaRPr lang="en-US" sz="1400" dirty="0"/>
          </a:p>
        </p:txBody>
      </p:sp>
      <p:sp>
        <p:nvSpPr>
          <p:cNvPr id="10" name="Tech card 2"/>
          <p:cNvSpPr/>
          <p:nvPr/>
        </p:nvSpPr>
        <p:spPr>
          <a:xfrm>
            <a:off x="4297680" y="14630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Tech 2 circle"/>
          <p:cNvSpPr/>
          <p:nvPr/>
        </p:nvSpPr>
        <p:spPr>
          <a:xfrm>
            <a:off x="4526280" y="1920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Tech 2 icon" descr="Fa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2062886"/>
            <a:ext cx="263347" cy="263347"/>
          </a:xfrm>
          <a:prstGeom prst="rect">
            <a:avLst/>
          </a:prstGeom>
        </p:spPr>
      </p:pic>
      <p:sp>
        <p:nvSpPr>
          <p:cNvPr id="13" name="Tech label 2"/>
          <p:cNvSpPr txBox="1"/>
          <p:nvPr/>
        </p:nvSpPr>
        <p:spPr>
          <a:xfrm>
            <a:off x="53035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BACKEND</a:t>
            </a:r>
            <a:endParaRPr lang="en-US" sz="1200" dirty="0"/>
          </a:p>
        </p:txBody>
      </p:sp>
      <p:sp>
        <p:nvSpPr>
          <p:cNvPr id="14" name="Tech name 2"/>
          <p:cNvSpPr txBox="1"/>
          <p:nvPr/>
        </p:nvSpPr>
        <p:spPr>
          <a:xfrm>
            <a:off x="5303520" y="1993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FastAPI</a:t>
            </a:r>
            <a:endParaRPr lang="en-US" sz="1800" dirty="0"/>
          </a:p>
        </p:txBody>
      </p:sp>
      <p:sp>
        <p:nvSpPr>
          <p:cNvPr id="15" name="Tech sub 2"/>
          <p:cNvSpPr txBox="1"/>
          <p:nvPr/>
        </p:nvSpPr>
        <p:spPr>
          <a:xfrm>
            <a:off x="530352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Pydantic request validation</a:t>
            </a:r>
            <a:endParaRPr lang="en-US" sz="1400" dirty="0"/>
          </a:p>
        </p:txBody>
      </p:sp>
      <p:sp>
        <p:nvSpPr>
          <p:cNvPr id="16" name="Tech card 3"/>
          <p:cNvSpPr/>
          <p:nvPr/>
        </p:nvSpPr>
        <p:spPr>
          <a:xfrm>
            <a:off x="8046720" y="14630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7" name="Tech 3 circle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Tech 3 icon" descr="FaDesk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062886"/>
            <a:ext cx="263347" cy="263347"/>
          </a:xfrm>
          <a:prstGeom prst="rect">
            <a:avLst/>
          </a:prstGeom>
        </p:spPr>
      </p:pic>
      <p:sp>
        <p:nvSpPr>
          <p:cNvPr id="19" name="Tech label 3"/>
          <p:cNvSpPr txBox="1"/>
          <p:nvPr/>
        </p:nvSpPr>
        <p:spPr>
          <a:xfrm>
            <a:off x="905256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FRONTEND</a:t>
            </a:r>
            <a:endParaRPr lang="en-US" sz="1200" dirty="0"/>
          </a:p>
        </p:txBody>
      </p:sp>
      <p:sp>
        <p:nvSpPr>
          <p:cNvPr id="20" name="Tech name 3"/>
          <p:cNvSpPr txBox="1"/>
          <p:nvPr/>
        </p:nvSpPr>
        <p:spPr>
          <a:xfrm>
            <a:off x="9052560" y="1993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Streamlit</a:t>
            </a:r>
            <a:endParaRPr lang="en-US" sz="1800" dirty="0"/>
          </a:p>
        </p:txBody>
      </p:sp>
      <p:sp>
        <p:nvSpPr>
          <p:cNvPr id="21" name="Tech sub 3"/>
          <p:cNvSpPr txBox="1"/>
          <p:nvPr/>
        </p:nvSpPr>
        <p:spPr>
          <a:xfrm>
            <a:off x="905256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analysis interface</a:t>
            </a:r>
            <a:endParaRPr lang="en-US" sz="1400" dirty="0"/>
          </a:p>
        </p:txBody>
      </p:sp>
      <p:sp>
        <p:nvSpPr>
          <p:cNvPr id="22" name="Tech card 4"/>
          <p:cNvSpPr/>
          <p:nvPr/>
        </p:nvSpPr>
        <p:spPr>
          <a:xfrm>
            <a:off x="548640" y="310896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3" name="Tech 4 circle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Tech 4 icon" descr="FaProjectDiagr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708806"/>
            <a:ext cx="263347" cy="263347"/>
          </a:xfrm>
          <a:prstGeom prst="rect">
            <a:avLst/>
          </a:prstGeom>
        </p:spPr>
      </p:pic>
      <p:sp>
        <p:nvSpPr>
          <p:cNvPr id="25" name="Tech label 4"/>
          <p:cNvSpPr txBox="1"/>
          <p:nvPr/>
        </p:nvSpPr>
        <p:spPr>
          <a:xfrm>
            <a:off x="155448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EMBEDDINGS</a:t>
            </a:r>
            <a:endParaRPr lang="en-US" sz="1200" dirty="0"/>
          </a:p>
        </p:txBody>
      </p:sp>
      <p:sp>
        <p:nvSpPr>
          <p:cNvPr id="26" name="Tech name 4"/>
          <p:cNvSpPr txBox="1"/>
          <p:nvPr/>
        </p:nvSpPr>
        <p:spPr>
          <a:xfrm>
            <a:off x="1554480" y="3639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all-MiniLM-L6-v2</a:t>
            </a:r>
            <a:endParaRPr lang="en-US" sz="1800" dirty="0"/>
          </a:p>
        </p:txBody>
      </p:sp>
      <p:sp>
        <p:nvSpPr>
          <p:cNvPr id="27" name="Tech sub 4"/>
          <p:cNvSpPr txBox="1"/>
          <p:nvPr/>
        </p:nvSpPr>
        <p:spPr>
          <a:xfrm>
            <a:off x="1554480" y="4041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sentence-transformers model</a:t>
            </a:r>
            <a:endParaRPr lang="en-US" sz="1400" dirty="0"/>
          </a:p>
        </p:txBody>
      </p:sp>
      <p:sp>
        <p:nvSpPr>
          <p:cNvPr id="28" name="Tech card 5"/>
          <p:cNvSpPr/>
          <p:nvPr/>
        </p:nvSpPr>
        <p:spPr>
          <a:xfrm>
            <a:off x="4297680" y="310896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9" name="Tech 5 circle"/>
          <p:cNvSpPr/>
          <p:nvPr/>
        </p:nvSpPr>
        <p:spPr>
          <a:xfrm>
            <a:off x="4526280" y="3566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Tech 5 icon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3708806"/>
            <a:ext cx="263347" cy="263347"/>
          </a:xfrm>
          <a:prstGeom prst="rect">
            <a:avLst/>
          </a:prstGeom>
        </p:spPr>
      </p:pic>
      <p:sp>
        <p:nvSpPr>
          <p:cNvPr id="31" name="Tech label 5"/>
          <p:cNvSpPr txBox="1"/>
          <p:nvPr/>
        </p:nvSpPr>
        <p:spPr>
          <a:xfrm>
            <a:off x="530352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VECTOR STORE</a:t>
            </a:r>
            <a:endParaRPr lang="en-US" sz="1200" dirty="0"/>
          </a:p>
        </p:txBody>
      </p:sp>
      <p:sp>
        <p:nvSpPr>
          <p:cNvPr id="32" name="Tech name 5"/>
          <p:cNvSpPr txBox="1"/>
          <p:nvPr/>
        </p:nvSpPr>
        <p:spPr>
          <a:xfrm>
            <a:off x="5303520" y="3639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ChromaDB</a:t>
            </a:r>
            <a:endParaRPr lang="en-US" sz="1800" dirty="0"/>
          </a:p>
        </p:txBody>
      </p:sp>
      <p:sp>
        <p:nvSpPr>
          <p:cNvPr id="33" name="Tech sub 5"/>
          <p:cNvSpPr txBox="1"/>
          <p:nvPr/>
        </p:nvSpPr>
        <p:spPr>
          <a:xfrm>
            <a:off x="5303520" y="4041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Similarity-based retrieval</a:t>
            </a:r>
            <a:endParaRPr lang="en-US" sz="1400" dirty="0"/>
          </a:p>
        </p:txBody>
      </p:sp>
      <p:sp>
        <p:nvSpPr>
          <p:cNvPr id="34" name="Tech card 6"/>
          <p:cNvSpPr/>
          <p:nvPr/>
        </p:nvSpPr>
        <p:spPr>
          <a:xfrm>
            <a:off x="8046720" y="310896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35" name="Tech 6 circle"/>
          <p:cNvSpPr/>
          <p:nvPr/>
        </p:nvSpPr>
        <p:spPr>
          <a:xfrm>
            <a:off x="8275320" y="3566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Tech 6 icon" descr="FaSearc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3708806"/>
            <a:ext cx="263347" cy="263347"/>
          </a:xfrm>
          <a:prstGeom prst="rect">
            <a:avLst/>
          </a:prstGeom>
        </p:spPr>
      </p:pic>
      <p:sp>
        <p:nvSpPr>
          <p:cNvPr id="37" name="Tech label 6"/>
          <p:cNvSpPr txBox="1"/>
          <p:nvPr/>
        </p:nvSpPr>
        <p:spPr>
          <a:xfrm>
            <a:off x="905256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RETRIEVAL</a:t>
            </a:r>
            <a:endParaRPr lang="en-US" sz="1200" dirty="0"/>
          </a:p>
        </p:txBody>
      </p:sp>
      <p:sp>
        <p:nvSpPr>
          <p:cNvPr id="38" name="Tech name 6"/>
          <p:cNvSpPr txBox="1"/>
          <p:nvPr/>
        </p:nvSpPr>
        <p:spPr>
          <a:xfrm>
            <a:off x="9052560" y="3639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Hybrid search</a:t>
            </a:r>
            <a:endParaRPr lang="en-US" sz="1800" dirty="0"/>
          </a:p>
        </p:txBody>
      </p:sp>
      <p:sp>
        <p:nvSpPr>
          <p:cNvPr id="39" name="Tech sub 6"/>
          <p:cNvSpPr txBox="1"/>
          <p:nvPr/>
        </p:nvSpPr>
        <p:spPr>
          <a:xfrm>
            <a:off x="9052560" y="4041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Semantic + keyword, about 70/30</a:t>
            </a:r>
            <a:endParaRPr lang="en-US" sz="1400" dirty="0"/>
          </a:p>
        </p:txBody>
      </p:sp>
      <p:sp>
        <p:nvSpPr>
          <p:cNvPr id="40" name="Tech card 7"/>
          <p:cNvSpPr/>
          <p:nvPr/>
        </p:nvSpPr>
        <p:spPr>
          <a:xfrm>
            <a:off x="54864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1" name="Tech 7 circle"/>
          <p:cNvSpPr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2" name="Tech 7 icon" descr="FaRobo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" y="5354726"/>
            <a:ext cx="263347" cy="263347"/>
          </a:xfrm>
          <a:prstGeom prst="rect">
            <a:avLst/>
          </a:prstGeom>
        </p:spPr>
      </p:pic>
      <p:sp>
        <p:nvSpPr>
          <p:cNvPr id="43" name="Tech label 7"/>
          <p:cNvSpPr txBox="1"/>
          <p:nvPr/>
        </p:nvSpPr>
        <p:spPr>
          <a:xfrm>
            <a:off x="155448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LLM</a:t>
            </a:r>
            <a:endParaRPr lang="en-US" sz="1200" dirty="0"/>
          </a:p>
        </p:txBody>
      </p:sp>
      <p:sp>
        <p:nvSpPr>
          <p:cNvPr id="44" name="Tech name 7"/>
          <p:cNvSpPr txBox="1"/>
          <p:nvPr/>
        </p:nvSpPr>
        <p:spPr>
          <a:xfrm>
            <a:off x="1554480" y="5285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openai/gpt-4.1</a:t>
            </a:r>
            <a:endParaRPr lang="en-US" sz="1800" dirty="0"/>
          </a:p>
        </p:txBody>
      </p:sp>
      <p:sp>
        <p:nvSpPr>
          <p:cNvPr id="45" name="Tech sub 7"/>
          <p:cNvSpPr txBox="1"/>
          <p:nvPr/>
        </p:nvSpPr>
        <p:spPr>
          <a:xfrm>
            <a:off x="1554480" y="5687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Via OpenRouter, optional</a:t>
            </a:r>
            <a:endParaRPr lang="en-US" sz="1400" dirty="0"/>
          </a:p>
        </p:txBody>
      </p:sp>
      <p:sp>
        <p:nvSpPr>
          <p:cNvPr id="46" name="Tech card 8"/>
          <p:cNvSpPr/>
          <p:nvPr/>
        </p:nvSpPr>
        <p:spPr>
          <a:xfrm>
            <a:off x="429768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7" name="Tech 8 circle"/>
          <p:cNvSpPr/>
          <p:nvPr/>
        </p:nvSpPr>
        <p:spPr>
          <a:xfrm>
            <a:off x="4526280" y="5212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8" name="Tech 8 icon" descr="FaSitema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8926" y="5354726"/>
            <a:ext cx="263347" cy="263347"/>
          </a:xfrm>
          <a:prstGeom prst="rect">
            <a:avLst/>
          </a:prstGeom>
        </p:spPr>
      </p:pic>
      <p:sp>
        <p:nvSpPr>
          <p:cNvPr id="49" name="Tech label 8"/>
          <p:cNvSpPr txBox="1"/>
          <p:nvPr/>
        </p:nvSpPr>
        <p:spPr>
          <a:xfrm>
            <a:off x="530352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ORCHESTRATION</a:t>
            </a:r>
            <a:endParaRPr lang="en-US" sz="1200" dirty="0"/>
          </a:p>
        </p:txBody>
      </p:sp>
      <p:sp>
        <p:nvSpPr>
          <p:cNvPr id="50" name="Tech name 8"/>
          <p:cNvSpPr txBox="1"/>
          <p:nvPr/>
        </p:nvSpPr>
        <p:spPr>
          <a:xfrm>
            <a:off x="5303520" y="5285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LangGraph</a:t>
            </a:r>
            <a:endParaRPr lang="en-US" sz="1800" dirty="0"/>
          </a:p>
        </p:txBody>
      </p:sp>
      <p:sp>
        <p:nvSpPr>
          <p:cNvPr id="51" name="Tech sub 8"/>
          <p:cNvSpPr txBox="1"/>
          <p:nvPr/>
        </p:nvSpPr>
        <p:spPr>
          <a:xfrm>
            <a:off x="5303520" y="5687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Coordinator workflow (a2a.py)</a:t>
            </a:r>
            <a:endParaRPr lang="en-US" sz="1400" dirty="0"/>
          </a:p>
        </p:txBody>
      </p:sp>
      <p:sp>
        <p:nvSpPr>
          <p:cNvPr id="52" name="Tech card 9"/>
          <p:cNvSpPr/>
          <p:nvPr/>
        </p:nvSpPr>
        <p:spPr>
          <a:xfrm>
            <a:off x="804672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3" name="Tech 9 circle"/>
          <p:cNvSpPr/>
          <p:nvPr/>
        </p:nvSpPr>
        <p:spPr>
          <a:xfrm>
            <a:off x="8275320" y="5212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4" name="Tech 9 icon" descr="FaCheckCirc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7966" y="5354726"/>
            <a:ext cx="263347" cy="263347"/>
          </a:xfrm>
          <a:prstGeom prst="rect">
            <a:avLst/>
          </a:prstGeom>
        </p:spPr>
      </p:pic>
      <p:sp>
        <p:nvSpPr>
          <p:cNvPr id="55" name="Tech label 9"/>
          <p:cNvSpPr txBox="1"/>
          <p:nvPr/>
        </p:nvSpPr>
        <p:spPr>
          <a:xfrm>
            <a:off x="905256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56" name="Tech name 9"/>
          <p:cNvSpPr txBox="1"/>
          <p:nvPr/>
        </p:nvSpPr>
        <p:spPr>
          <a:xfrm>
            <a:off x="9052560" y="5285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DeepEval</a:t>
            </a:r>
            <a:endParaRPr lang="en-US" sz="1800" dirty="0"/>
          </a:p>
        </p:txBody>
      </p:sp>
      <p:sp>
        <p:nvSpPr>
          <p:cNvPr id="57" name="Tech sub 9"/>
          <p:cNvSpPr txBox="1"/>
          <p:nvPr/>
        </p:nvSpPr>
        <p:spPr>
          <a:xfrm>
            <a:off x="9052560" y="5687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LLM-as-judge and Pytest suite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Agent Workflow</a:t>
            </a:r>
            <a:endParaRPr lang="en-US" sz="3200" dirty="0"/>
          </a:p>
        </p:txBody>
      </p:sp>
      <p:sp>
        <p:nvSpPr>
          <p:cNvPr id="4" name="Entry card 1"/>
          <p:cNvSpPr/>
          <p:nvPr/>
        </p:nvSpPr>
        <p:spPr>
          <a:xfrm>
            <a:off x="548640" y="1417320"/>
            <a:ext cx="329184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5" name="Entry head 1"/>
          <p:cNvSpPr txBox="1"/>
          <p:nvPr/>
        </p:nvSpPr>
        <p:spPr>
          <a:xfrm>
            <a:off x="77724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  Guardrail Agent</a:t>
            </a:r>
            <a:endParaRPr lang="en-US" sz="1800" dirty="0"/>
          </a:p>
        </p:txBody>
      </p:sp>
      <p:sp>
        <p:nvSpPr>
          <p:cNvPr id="6" name="Entry text 1"/>
          <p:cNvSpPr txBox="1"/>
          <p:nvPr/>
        </p:nvSpPr>
        <p:spPr>
          <a:xfrm>
            <a:off x="77724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Checks query suitability</a:t>
            </a:r>
            <a:endParaRPr lang="en-US" sz="1400" dirty="0"/>
          </a:p>
        </p:txBody>
      </p:sp>
      <p:sp>
        <p:nvSpPr>
          <p:cNvPr id="7" name="Entry arrow 1"/>
          <p:cNvSpPr/>
          <p:nvPr/>
        </p:nvSpPr>
        <p:spPr>
          <a:xfrm>
            <a:off x="3950208" y="17373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Entry card 2"/>
          <p:cNvSpPr/>
          <p:nvPr/>
        </p:nvSpPr>
        <p:spPr>
          <a:xfrm>
            <a:off x="4434840" y="1417320"/>
            <a:ext cx="329184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9" name="Entry head 2"/>
          <p:cNvSpPr txBox="1"/>
          <p:nvPr/>
        </p:nvSpPr>
        <p:spPr>
          <a:xfrm>
            <a:off x="466344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  Classification Agent</a:t>
            </a:r>
            <a:endParaRPr lang="en-US" sz="1800" dirty="0"/>
          </a:p>
        </p:txBody>
      </p:sp>
      <p:sp>
        <p:nvSpPr>
          <p:cNvPr id="10" name="Entry text 2"/>
          <p:cNvSpPr txBox="1"/>
          <p:nvPr/>
        </p:nvSpPr>
        <p:spPr>
          <a:xfrm>
            <a:off x="466344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Classifies intent to guide the path</a:t>
            </a:r>
            <a:endParaRPr lang="en-US" sz="1400" dirty="0"/>
          </a:p>
        </p:txBody>
      </p:sp>
      <p:sp>
        <p:nvSpPr>
          <p:cNvPr id="11" name="Entry arrow 2"/>
          <p:cNvSpPr/>
          <p:nvPr/>
        </p:nvSpPr>
        <p:spPr>
          <a:xfrm>
            <a:off x="7836408" y="17373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Entry card 3"/>
          <p:cNvSpPr/>
          <p:nvPr/>
        </p:nvSpPr>
        <p:spPr>
          <a:xfrm>
            <a:off x="8321040" y="1417320"/>
            <a:ext cx="329184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13" name="Entry head 3"/>
          <p:cNvSpPr txBox="1"/>
          <p:nvPr/>
        </p:nvSpPr>
        <p:spPr>
          <a:xfrm>
            <a:off x="854964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 Retrieval Agent</a:t>
            </a:r>
            <a:endParaRPr lang="en-US" sz="1800" dirty="0"/>
          </a:p>
        </p:txBody>
      </p:sp>
      <p:sp>
        <p:nvSpPr>
          <p:cNvPr id="14" name="Entry text 3"/>
          <p:cNvSpPr txBox="1"/>
          <p:nvPr/>
        </p:nvSpPr>
        <p:spPr>
          <a:xfrm>
            <a:off x="854964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Fetches cases and knowledge context</a:t>
            </a:r>
            <a:endParaRPr lang="en-US" sz="1400" dirty="0"/>
          </a:p>
        </p:txBody>
      </p:sp>
      <p:sp>
        <p:nvSpPr>
          <p:cNvPr id="15" name="Down arrow 1"/>
          <p:cNvSpPr/>
          <p:nvPr/>
        </p:nvSpPr>
        <p:spPr>
          <a:xfrm>
            <a:off x="5943600" y="2487168"/>
            <a:ext cx="310896" cy="27432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6" name="Coordinator bar"/>
          <p:cNvSpPr/>
          <p:nvPr/>
        </p:nvSpPr>
        <p:spPr>
          <a:xfrm>
            <a:off x="548640" y="283464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7" name="Coordinator text"/>
          <p:cNvSpPr txBox="1"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Coordinator (src/agents/a2a.py): invokes the relevant analysis agents as needed</a:t>
            </a:r>
            <a:endParaRPr lang="en-US" sz="1800" dirty="0"/>
          </a:p>
        </p:txBody>
      </p:sp>
      <p:sp>
        <p:nvSpPr>
          <p:cNvPr id="18" name="Down arrow 2"/>
          <p:cNvSpPr/>
          <p:nvPr/>
        </p:nvSpPr>
        <p:spPr>
          <a:xfrm>
            <a:off x="5943600" y="3630168"/>
            <a:ext cx="310896" cy="27432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9" name="Agent card 1"/>
          <p:cNvSpPr/>
          <p:nvPr/>
        </p:nvSpPr>
        <p:spPr>
          <a:xfrm>
            <a:off x="548640" y="402336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Agent name 1"/>
          <p:cNvSpPr txBox="1"/>
          <p:nvPr/>
        </p:nvSpPr>
        <p:spPr>
          <a:xfrm>
            <a:off x="658368" y="4160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Risk Prediction</a:t>
            </a:r>
            <a:endParaRPr lang="en-US" sz="1400" dirty="0"/>
          </a:p>
        </p:txBody>
      </p:sp>
      <p:sp>
        <p:nvSpPr>
          <p:cNvPr id="21" name="Agent text 1"/>
          <p:cNvSpPr txBox="1"/>
          <p:nvPr/>
        </p:nvSpPr>
        <p:spPr>
          <a:xfrm>
            <a:off x="658368" y="457200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Flags risk and anomaly signals</a:t>
            </a:r>
            <a:endParaRPr lang="en-US" sz="1200" dirty="0"/>
          </a:p>
        </p:txBody>
      </p:sp>
      <p:sp>
        <p:nvSpPr>
          <p:cNvPr id="22" name="Agent card 2"/>
          <p:cNvSpPr/>
          <p:nvPr/>
        </p:nvSpPr>
        <p:spPr>
          <a:xfrm>
            <a:off x="2432304" y="402336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3" name="Agent name 2"/>
          <p:cNvSpPr txBox="1"/>
          <p:nvPr/>
        </p:nvSpPr>
        <p:spPr>
          <a:xfrm>
            <a:off x="2542032" y="4160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Optimization</a:t>
            </a:r>
            <a:endParaRPr lang="en-US" sz="1400" dirty="0"/>
          </a:p>
        </p:txBody>
      </p:sp>
      <p:sp>
        <p:nvSpPr>
          <p:cNvPr id="24" name="Agent text 2"/>
          <p:cNvSpPr txBox="1"/>
          <p:nvPr/>
        </p:nvSpPr>
        <p:spPr>
          <a:xfrm>
            <a:off x="2542032" y="457200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Drafts actionable recommendations</a:t>
            </a:r>
            <a:endParaRPr lang="en-US" sz="1200" dirty="0"/>
          </a:p>
        </p:txBody>
      </p:sp>
      <p:sp>
        <p:nvSpPr>
          <p:cNvPr id="25" name="Agent card 3"/>
          <p:cNvSpPr/>
          <p:nvPr/>
        </p:nvSpPr>
        <p:spPr>
          <a:xfrm>
            <a:off x="4315968" y="402336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6" name="Agent name 3"/>
          <p:cNvSpPr txBox="1"/>
          <p:nvPr/>
        </p:nvSpPr>
        <p:spPr>
          <a:xfrm>
            <a:off x="4425696" y="4160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 Reduction</a:t>
            </a:r>
            <a:endParaRPr lang="en-US" sz="1400" dirty="0"/>
          </a:p>
        </p:txBody>
      </p:sp>
      <p:sp>
        <p:nvSpPr>
          <p:cNvPr id="27" name="Agent text 3"/>
          <p:cNvSpPr txBox="1"/>
          <p:nvPr/>
        </p:nvSpPr>
        <p:spPr>
          <a:xfrm>
            <a:off x="4425696" y="457200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Estimates cost impact from tariffs</a:t>
            </a:r>
            <a:endParaRPr lang="en-US" sz="1200" dirty="0"/>
          </a:p>
        </p:txBody>
      </p:sp>
      <p:sp>
        <p:nvSpPr>
          <p:cNvPr id="28" name="Agent card 4"/>
          <p:cNvSpPr/>
          <p:nvPr/>
        </p:nvSpPr>
        <p:spPr>
          <a:xfrm>
            <a:off x="6199632" y="402336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Agent name 4"/>
          <p:cNvSpPr txBox="1"/>
          <p:nvPr/>
        </p:nvSpPr>
        <p:spPr>
          <a:xfrm>
            <a:off x="6309360" y="4160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Carbon Reduction</a:t>
            </a:r>
            <a:endParaRPr lang="en-US" sz="1400" dirty="0"/>
          </a:p>
        </p:txBody>
      </p:sp>
      <p:sp>
        <p:nvSpPr>
          <p:cNvPr id="30" name="Agent text 4"/>
          <p:cNvSpPr txBox="1"/>
          <p:nvPr/>
        </p:nvSpPr>
        <p:spPr>
          <a:xfrm>
            <a:off x="6309360" y="457200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Estimates emissions impact</a:t>
            </a:r>
            <a:endParaRPr lang="en-US" sz="1200" dirty="0"/>
          </a:p>
        </p:txBody>
      </p:sp>
      <p:sp>
        <p:nvSpPr>
          <p:cNvPr id="31" name="Agent card 5"/>
          <p:cNvSpPr/>
          <p:nvPr/>
        </p:nvSpPr>
        <p:spPr>
          <a:xfrm>
            <a:off x="8083296" y="402336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2" name="Agent name 5"/>
          <p:cNvSpPr txBox="1"/>
          <p:nvPr/>
        </p:nvSpPr>
        <p:spPr>
          <a:xfrm>
            <a:off x="8193024" y="4160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Effectiveness</a:t>
            </a:r>
            <a:endParaRPr lang="en-US" sz="1400" dirty="0"/>
          </a:p>
        </p:txBody>
      </p:sp>
      <p:sp>
        <p:nvSpPr>
          <p:cNvPr id="33" name="Agent text 5"/>
          <p:cNvSpPr txBox="1"/>
          <p:nvPr/>
        </p:nvSpPr>
        <p:spPr>
          <a:xfrm>
            <a:off x="8193024" y="457200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Scores recommendation quality</a:t>
            </a:r>
            <a:endParaRPr lang="en-US" sz="1200" dirty="0"/>
          </a:p>
        </p:txBody>
      </p:sp>
      <p:sp>
        <p:nvSpPr>
          <p:cNvPr id="34" name="Agent card 6"/>
          <p:cNvSpPr/>
          <p:nvPr/>
        </p:nvSpPr>
        <p:spPr>
          <a:xfrm>
            <a:off x="9966960" y="402336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5" name="Agent name 6"/>
          <p:cNvSpPr txBox="1"/>
          <p:nvPr/>
        </p:nvSpPr>
        <p:spPr>
          <a:xfrm>
            <a:off x="10076688" y="4160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Feedback</a:t>
            </a:r>
            <a:endParaRPr lang="en-US" sz="1400" dirty="0"/>
          </a:p>
        </p:txBody>
      </p:sp>
      <p:sp>
        <p:nvSpPr>
          <p:cNvPr id="36" name="Agent text 6"/>
          <p:cNvSpPr txBox="1"/>
          <p:nvPr/>
        </p:nvSpPr>
        <p:spPr>
          <a:xfrm>
            <a:off x="10076688" y="457200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Collects and summarizes user feedback</a:t>
            </a:r>
            <a:endParaRPr lang="en-US" sz="1200" dirty="0"/>
          </a:p>
        </p:txBody>
      </p:sp>
      <p:sp>
        <p:nvSpPr>
          <p:cNvPr id="37" name="Agent note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LLM generation is used when enabled; rule-based paths cover supported workflows. The diagram does not mean every agent executes for every query.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Demo</a:t>
            </a:r>
            <a:endParaRPr lang="en-US" sz="3200" dirty="0"/>
          </a:p>
        </p:txBody>
      </p:sp>
      <p:sp>
        <p:nvSpPr>
          <p:cNvPr id="4" name="Run card"/>
          <p:cNvSpPr/>
          <p:nvPr/>
        </p:nvSpPr>
        <p:spPr>
          <a:xfrm>
            <a:off x="548640" y="1463040"/>
            <a:ext cx="5120640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5" name="Run circle"/>
          <p:cNvSpPr/>
          <p:nvPr/>
        </p:nvSpPr>
        <p:spPr>
          <a:xfrm>
            <a:off x="86868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Run icon" descr="Fa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1891894"/>
            <a:ext cx="285293" cy="285293"/>
          </a:xfrm>
          <a:prstGeom prst="rect">
            <a:avLst/>
          </a:prstGeom>
        </p:spPr>
      </p:pic>
      <p:sp>
        <p:nvSpPr>
          <p:cNvPr id="7" name="Run head"/>
          <p:cNvSpPr txBox="1"/>
          <p:nvPr/>
        </p:nvSpPr>
        <p:spPr>
          <a:xfrm>
            <a:off x="1645920" y="1737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Run it locally</a:t>
            </a:r>
            <a:endParaRPr lang="en-US" sz="2000" dirty="0"/>
          </a:p>
        </p:txBody>
      </p:sp>
      <p:sp>
        <p:nvSpPr>
          <p:cNvPr id="8" name="Cmd label 1"/>
          <p:cNvSpPr txBox="1"/>
          <p:nvPr/>
        </p:nvSpPr>
        <p:spPr>
          <a:xfrm>
            <a:off x="868680" y="2606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TERMINAL 1  BACKEND</a:t>
            </a:r>
            <a:endParaRPr lang="en-US" sz="1200" dirty="0"/>
          </a:p>
        </p:txBody>
      </p:sp>
      <p:sp>
        <p:nvSpPr>
          <p:cNvPr id="9" name="Cmd text 1"/>
          <p:cNvSpPr txBox="1"/>
          <p:nvPr/>
        </p:nvSpPr>
        <p:spPr>
          <a:xfrm>
            <a:off x="868680" y="2898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src.main:app --reload</a:t>
            </a:r>
            <a:endParaRPr lang="en-US" sz="1400" dirty="0"/>
          </a:p>
        </p:txBody>
      </p:sp>
      <p:sp>
        <p:nvSpPr>
          <p:cNvPr id="10" name="Cmd label 2"/>
          <p:cNvSpPr txBox="1"/>
          <p:nvPr/>
        </p:nvSpPr>
        <p:spPr>
          <a:xfrm>
            <a:off x="868680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TERMINAL 2  FRONTEND</a:t>
            </a:r>
            <a:endParaRPr lang="en-US" sz="1200" dirty="0"/>
          </a:p>
        </p:txBody>
      </p:sp>
      <p:sp>
        <p:nvSpPr>
          <p:cNvPr id="11" name="Cmd text 2"/>
          <p:cNvSpPr txBox="1"/>
          <p:nvPr/>
        </p:nvSpPr>
        <p:spPr>
          <a:xfrm>
            <a:off x="868680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frontend/frontend.py</a:t>
            </a:r>
            <a:endParaRPr lang="en-US" sz="1400" dirty="0"/>
          </a:p>
        </p:txBody>
      </p:sp>
      <p:sp>
        <p:nvSpPr>
          <p:cNvPr id="12" name="Cmd label 3"/>
          <p:cNvSpPr txBox="1"/>
          <p:nvPr/>
        </p:nvSpPr>
        <p:spPr>
          <a:xfrm>
            <a:off x="86868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SWAGGER UI</a:t>
            </a:r>
            <a:endParaRPr lang="en-US" sz="1200" dirty="0"/>
          </a:p>
        </p:txBody>
      </p:sp>
      <p:sp>
        <p:nvSpPr>
          <p:cNvPr id="13" name="Cmd text 3"/>
          <p:cNvSpPr txBox="1"/>
          <p:nvPr/>
        </p:nvSpPr>
        <p:spPr>
          <a:xfrm>
            <a:off x="868680" y="46360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127.0.0.1:8000/docs</a:t>
            </a:r>
            <a:endParaRPr lang="en-US" sz="1400" dirty="0"/>
          </a:p>
        </p:txBody>
      </p:sp>
      <p:sp>
        <p:nvSpPr>
          <p:cNvPr id="14" name="Cmd label 4"/>
          <p:cNvSpPr txBox="1"/>
          <p:nvPr/>
        </p:nvSpPr>
        <p:spPr>
          <a:xfrm>
            <a:off x="868680" y="5212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STREAMLIT UI</a:t>
            </a:r>
            <a:endParaRPr lang="en-US" sz="1200" dirty="0"/>
          </a:p>
        </p:txBody>
      </p:sp>
      <p:sp>
        <p:nvSpPr>
          <p:cNvPr id="15" name="Cmd text 4"/>
          <p:cNvSpPr txBox="1"/>
          <p:nvPr/>
        </p:nvSpPr>
        <p:spPr>
          <a:xfrm>
            <a:off x="868680" y="5504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localhost:8501</a:t>
            </a:r>
            <a:endParaRPr lang="en-US" sz="1400" dirty="0"/>
          </a:p>
        </p:txBody>
      </p:sp>
      <p:sp>
        <p:nvSpPr>
          <p:cNvPr id="16" name="Demo head"/>
          <p:cNvSpPr txBox="1"/>
          <p:nvPr/>
        </p:nvSpPr>
        <p:spPr>
          <a:xfrm>
            <a:off x="6035040" y="1463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Sample queries</a:t>
            </a:r>
            <a:endParaRPr lang="en-US" sz="2000" dirty="0"/>
          </a:p>
        </p:txBody>
      </p:sp>
      <p:sp>
        <p:nvSpPr>
          <p:cNvPr id="17" name="Query num 1"/>
          <p:cNvSpPr/>
          <p:nvPr/>
        </p:nvSpPr>
        <p:spPr>
          <a:xfrm>
            <a:off x="6035040" y="2148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Query num 1 num"/>
          <p:cNvSpPr txBox="1"/>
          <p:nvPr/>
        </p:nvSpPr>
        <p:spPr>
          <a:xfrm>
            <a:off x="6035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Query text 1"/>
          <p:cNvSpPr txBox="1"/>
          <p:nvPr/>
        </p:nvSpPr>
        <p:spPr>
          <a:xfrm>
            <a:off x="6720840" y="20574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How can I reduce high energy consumption during peak hours?</a:t>
            </a:r>
            <a:endParaRPr lang="en-US" sz="1600" dirty="0"/>
          </a:p>
        </p:txBody>
      </p:sp>
      <p:sp>
        <p:nvSpPr>
          <p:cNvPr id="20" name="Query tag bg 1"/>
          <p:cNvSpPr/>
          <p:nvPr/>
        </p:nvSpPr>
        <p:spPr>
          <a:xfrm>
            <a:off x="6720840" y="2679192"/>
            <a:ext cx="1645920" cy="274320"/>
          </a:xfrm>
          <a:prstGeom prst="roundRect">
            <a:avLst>
              <a:gd name="adj" fmla="val 40000"/>
            </a:avLst>
          </a:prstGeom>
          <a:solidFill>
            <a:schemeClr val="bg2"/>
          </a:solidFill>
          <a:ln/>
        </p:spPr>
      </p:sp>
      <p:sp>
        <p:nvSpPr>
          <p:cNvPr id="21" name="Query tag 1"/>
          <p:cNvSpPr txBox="1"/>
          <p:nvPr/>
        </p:nvSpPr>
        <p:spPr>
          <a:xfrm>
            <a:off x="6720840" y="2679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/api/analyze</a:t>
            </a:r>
            <a:endParaRPr lang="en-US" sz="1200" dirty="0"/>
          </a:p>
        </p:txBody>
      </p:sp>
      <p:sp>
        <p:nvSpPr>
          <p:cNvPr id="22" name="Query num 2"/>
          <p:cNvSpPr/>
          <p:nvPr/>
        </p:nvSpPr>
        <p:spPr>
          <a:xfrm>
            <a:off x="6035040" y="3200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Query num 2 num"/>
          <p:cNvSpPr txBox="1"/>
          <p:nvPr/>
        </p:nvSpPr>
        <p:spPr>
          <a:xfrm>
            <a:off x="6035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Query text 2"/>
          <p:cNvSpPr txBox="1"/>
          <p:nvPr/>
        </p:nvSpPr>
        <p:spPr>
          <a:xfrm>
            <a:off x="6720840" y="31089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Find historical cases with high energy consumption.</a:t>
            </a:r>
            <a:endParaRPr lang="en-US" sz="1600" dirty="0"/>
          </a:p>
        </p:txBody>
      </p:sp>
      <p:sp>
        <p:nvSpPr>
          <p:cNvPr id="25" name="Query tag bg 2"/>
          <p:cNvSpPr/>
          <p:nvPr/>
        </p:nvSpPr>
        <p:spPr>
          <a:xfrm>
            <a:off x="6720840" y="3730752"/>
            <a:ext cx="1645920" cy="274320"/>
          </a:xfrm>
          <a:prstGeom prst="roundRect">
            <a:avLst>
              <a:gd name="adj" fmla="val 40000"/>
            </a:avLst>
          </a:prstGeom>
          <a:solidFill>
            <a:schemeClr val="bg2"/>
          </a:solidFill>
          <a:ln/>
        </p:spPr>
      </p:sp>
      <p:sp>
        <p:nvSpPr>
          <p:cNvPr id="26" name="Query tag 2"/>
          <p:cNvSpPr txBox="1"/>
          <p:nvPr/>
        </p:nvSpPr>
        <p:spPr>
          <a:xfrm>
            <a:off x="672084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/api/search</a:t>
            </a:r>
            <a:endParaRPr lang="en-US" sz="1200" dirty="0"/>
          </a:p>
        </p:txBody>
      </p:sp>
      <p:sp>
        <p:nvSpPr>
          <p:cNvPr id="27" name="Query num 3"/>
          <p:cNvSpPr/>
          <p:nvPr/>
        </p:nvSpPr>
        <p:spPr>
          <a:xfrm>
            <a:off x="6035040" y="4251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Query num 3 num"/>
          <p:cNvSpPr txBox="1"/>
          <p:nvPr/>
        </p:nvSpPr>
        <p:spPr>
          <a:xfrm>
            <a:off x="6035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Query text 3"/>
          <p:cNvSpPr txBox="1"/>
          <p:nvPr/>
        </p:nvSpPr>
        <p:spPr>
          <a:xfrm>
            <a:off x="6720840" y="41605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What patterns are visible during winter energy consumption?</a:t>
            </a:r>
            <a:endParaRPr lang="en-US" sz="1600" dirty="0"/>
          </a:p>
        </p:txBody>
      </p:sp>
      <p:sp>
        <p:nvSpPr>
          <p:cNvPr id="30" name="Query tag bg 3"/>
          <p:cNvSpPr/>
          <p:nvPr/>
        </p:nvSpPr>
        <p:spPr>
          <a:xfrm>
            <a:off x="6720840" y="4782312"/>
            <a:ext cx="1645920" cy="274320"/>
          </a:xfrm>
          <a:prstGeom prst="roundRect">
            <a:avLst>
              <a:gd name="adj" fmla="val 40000"/>
            </a:avLst>
          </a:prstGeom>
          <a:solidFill>
            <a:schemeClr val="bg2"/>
          </a:solidFill>
          <a:ln/>
        </p:spPr>
      </p:sp>
      <p:sp>
        <p:nvSpPr>
          <p:cNvPr id="31" name="Query tag 3"/>
          <p:cNvSpPr txBox="1"/>
          <p:nvPr/>
        </p:nvSpPr>
        <p:spPr>
          <a:xfrm>
            <a:off x="6720840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/api/analyze</a:t>
            </a:r>
            <a:endParaRPr lang="en-US" sz="1200" dirty="0"/>
          </a:p>
        </p:txBody>
      </p:sp>
      <p:sp>
        <p:nvSpPr>
          <p:cNvPr id="32" name="Query num 4"/>
          <p:cNvSpPr/>
          <p:nvPr/>
        </p:nvSpPr>
        <p:spPr>
          <a:xfrm>
            <a:off x="6035040" y="5303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Query num 4 num"/>
          <p:cNvSpPr txBox="1"/>
          <p:nvPr/>
        </p:nvSpPr>
        <p:spPr>
          <a:xfrm>
            <a:off x="60350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Query text 4"/>
          <p:cNvSpPr txBox="1"/>
          <p:nvPr/>
        </p:nvSpPr>
        <p:spPr>
          <a:xfrm>
            <a:off x="6720840" y="52120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Suggest practical ways to reduce energy use without disrupting essential activities.</a:t>
            </a:r>
            <a:endParaRPr lang="en-US" sz="1600" dirty="0"/>
          </a:p>
        </p:txBody>
      </p:sp>
      <p:sp>
        <p:nvSpPr>
          <p:cNvPr id="35" name="Query tag bg 4"/>
          <p:cNvSpPr/>
          <p:nvPr/>
        </p:nvSpPr>
        <p:spPr>
          <a:xfrm>
            <a:off x="6720840" y="5833872"/>
            <a:ext cx="1645920" cy="274320"/>
          </a:xfrm>
          <a:prstGeom prst="roundRect">
            <a:avLst>
              <a:gd name="adj" fmla="val 40000"/>
            </a:avLst>
          </a:prstGeom>
          <a:solidFill>
            <a:schemeClr val="bg2"/>
          </a:solidFill>
          <a:ln/>
        </p:spPr>
      </p:sp>
      <p:sp>
        <p:nvSpPr>
          <p:cNvPr id="36" name="Query tag 4"/>
          <p:cNvSpPr txBox="1"/>
          <p:nvPr/>
        </p:nvSpPr>
        <p:spPr>
          <a:xfrm>
            <a:off x="6720840" y="5833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/api/recommend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Evaluation Results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8580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eepEval head"/>
          <p:cNvSpPr txBox="1"/>
          <p:nvPr/>
        </p:nvSpPr>
        <p:spPr>
          <a:xfrm>
            <a:off x="78638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DeepEval (recorded run)</a:t>
            </a:r>
            <a:endParaRPr lang="en-US" sz="2000" dirty="0"/>
          </a:p>
        </p:txBody>
      </p:sp>
      <p:sp>
        <p:nvSpPr>
          <p:cNvPr id="6" name="DeepEval card 1"/>
          <p:cNvSpPr/>
          <p:nvPr/>
        </p:nvSpPr>
        <p:spPr>
          <a:xfrm>
            <a:off x="7863840" y="2057400"/>
            <a:ext cx="37490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DeepEval value 1"/>
          <p:cNvSpPr txBox="1"/>
          <p:nvPr/>
        </p:nvSpPr>
        <p:spPr>
          <a:xfrm>
            <a:off x="8092440" y="2057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0.825</a:t>
            </a:r>
            <a:endParaRPr lang="en-US" sz="3600" dirty="0"/>
          </a:p>
        </p:txBody>
      </p:sp>
      <p:sp>
        <p:nvSpPr>
          <p:cNvPr id="8" name="DeepEval label 1"/>
          <p:cNvSpPr txBox="1"/>
          <p:nvPr/>
        </p:nvSpPr>
        <p:spPr>
          <a:xfrm>
            <a:off x="9646920" y="20574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Overall</a:t>
            </a:r>
            <a:endParaRPr lang="en-US" sz="1400" dirty="0"/>
          </a:p>
        </p:txBody>
      </p:sp>
      <p:sp>
        <p:nvSpPr>
          <p:cNvPr id="9" name="DeepEval card 2"/>
          <p:cNvSpPr/>
          <p:nvPr/>
        </p:nvSpPr>
        <p:spPr>
          <a:xfrm>
            <a:off x="7863840" y="3337560"/>
            <a:ext cx="37490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DeepEval value 2"/>
          <p:cNvSpPr txBox="1"/>
          <p:nvPr/>
        </p:nvSpPr>
        <p:spPr>
          <a:xfrm>
            <a:off x="8092440" y="33375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0.75</a:t>
            </a:r>
            <a:endParaRPr lang="en-US" sz="3600" dirty="0"/>
          </a:p>
        </p:txBody>
      </p:sp>
      <p:sp>
        <p:nvSpPr>
          <p:cNvPr id="11" name="DeepEval label 2"/>
          <p:cNvSpPr txBox="1"/>
          <p:nvPr/>
        </p:nvSpPr>
        <p:spPr>
          <a:xfrm>
            <a:off x="9646920" y="333756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Relevancy</a:t>
            </a:r>
            <a:endParaRPr lang="en-US" sz="1400" dirty="0"/>
          </a:p>
        </p:txBody>
      </p:sp>
      <p:sp>
        <p:nvSpPr>
          <p:cNvPr id="12" name="DeepEval card 3"/>
          <p:cNvSpPr/>
          <p:nvPr/>
        </p:nvSpPr>
        <p:spPr>
          <a:xfrm>
            <a:off x="7863840" y="4617720"/>
            <a:ext cx="37490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DeepEval value 3"/>
          <p:cNvSpPr txBox="1"/>
          <p:nvPr/>
        </p:nvSpPr>
        <p:spPr>
          <a:xfrm>
            <a:off x="8092440" y="46177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0.90</a:t>
            </a:r>
            <a:endParaRPr lang="en-US" sz="3600" dirty="0"/>
          </a:p>
        </p:txBody>
      </p:sp>
      <p:sp>
        <p:nvSpPr>
          <p:cNvPr id="14" name="DeepEval label 3"/>
          <p:cNvSpPr txBox="1"/>
          <p:nvPr/>
        </p:nvSpPr>
        <p:spPr>
          <a:xfrm>
            <a:off x="9646920" y="46177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 Recommendation Quality</a:t>
            </a:r>
            <a:endParaRPr lang="en-US" sz="1400" dirty="0"/>
          </a:p>
        </p:txBody>
      </p:sp>
      <p:sp>
        <p:nvSpPr>
          <p:cNvPr id="15" name="Eval caveat"/>
          <p:cNvSpPr txBox="1"/>
          <p:nvPr/>
        </p:nvSpPr>
        <p:spPr>
          <a:xfrm>
            <a:off x="548640" y="6080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Run-specific results, not guaranteed for every query. Retrieval labels are rule-derived proxies, and cost/carbon outputs are estimates.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Challenges and Learnings</a:t>
            </a:r>
            <a:endParaRPr lang="en-US" sz="3200" dirty="0"/>
          </a:p>
        </p:txBody>
      </p:sp>
      <p:sp>
        <p:nvSpPr>
          <p:cNvPr id="4" name="Column head 1"/>
          <p:cNvSpPr/>
          <p:nvPr/>
        </p:nvSpPr>
        <p:spPr>
          <a:xfrm>
            <a:off x="548640" y="1463040"/>
            <a:ext cx="539496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5" name="Column title 1"/>
          <p:cNvSpPr txBox="1"/>
          <p:nvPr/>
        </p:nvSpPr>
        <p:spPr>
          <a:xfrm>
            <a:off x="822960" y="1463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Challenges</a:t>
            </a:r>
            <a:endParaRPr lang="en-US" sz="2000" dirty="0"/>
          </a:p>
        </p:txBody>
      </p:sp>
      <p:sp>
        <p:nvSpPr>
          <p:cNvPr id="6" name="Marker 1-1"/>
          <p:cNvSpPr/>
          <p:nvPr/>
        </p:nvSpPr>
        <p:spPr>
          <a:xfrm>
            <a:off x="594360" y="235915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Item head 1-1"/>
          <p:cNvSpPr txBox="1"/>
          <p:nvPr/>
        </p:nvSpPr>
        <p:spPr>
          <a:xfrm>
            <a:off x="96012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Tuning hybrid retrieval</a:t>
            </a:r>
            <a:endParaRPr lang="en-US" sz="1600" dirty="0"/>
          </a:p>
        </p:txBody>
      </p:sp>
      <p:sp>
        <p:nvSpPr>
          <p:cNvPr id="8" name="Item text 1-1"/>
          <p:cNvSpPr txBox="1"/>
          <p:nvPr/>
        </p:nvSpPr>
        <p:spPr>
          <a:xfrm>
            <a:off x="960120" y="26151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70/30 semantic/keyword balance needs testing on representative queries.</a:t>
            </a:r>
            <a:endParaRPr lang="en-US" sz="1400" dirty="0"/>
          </a:p>
        </p:txBody>
      </p:sp>
      <p:sp>
        <p:nvSpPr>
          <p:cNvPr id="9" name="Marker 1-2"/>
          <p:cNvSpPr/>
          <p:nvPr/>
        </p:nvSpPr>
        <p:spPr>
          <a:xfrm>
            <a:off x="594360" y="336499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Item head 1-2"/>
          <p:cNvSpPr txBox="1"/>
          <p:nvPr/>
        </p:nvSpPr>
        <p:spPr>
          <a:xfrm>
            <a:off x="960120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Single-home dataset</a:t>
            </a:r>
            <a:endParaRPr lang="en-US" sz="1600" dirty="0"/>
          </a:p>
        </p:txBody>
      </p:sp>
      <p:sp>
        <p:nvSpPr>
          <p:cNvPr id="11" name="Item text 1-2"/>
          <p:cNvSpPr txBox="1"/>
          <p:nvPr/>
        </p:nvSpPr>
        <p:spPr>
          <a:xfrm>
            <a:off x="960120" y="36210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Household data cannot validate commercial or industrial settings.</a:t>
            </a:r>
            <a:endParaRPr lang="en-US" sz="1400" dirty="0"/>
          </a:p>
        </p:txBody>
      </p:sp>
      <p:sp>
        <p:nvSpPr>
          <p:cNvPr id="12" name="Marker 1-3"/>
          <p:cNvSpPr/>
          <p:nvPr/>
        </p:nvSpPr>
        <p:spPr>
          <a:xfrm>
            <a:off x="594360" y="437083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Item head 1-3"/>
          <p:cNvSpPr txBox="1"/>
          <p:nvPr/>
        </p:nvSpPr>
        <p:spPr>
          <a:xfrm>
            <a:off x="96012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Estimates, not savings</a:t>
            </a:r>
            <a:endParaRPr lang="en-US" sz="1600" dirty="0"/>
          </a:p>
        </p:txBody>
      </p:sp>
      <p:sp>
        <p:nvSpPr>
          <p:cNvPr id="14" name="Item text 1-3"/>
          <p:cNvSpPr txBox="1"/>
          <p:nvPr/>
        </p:nvSpPr>
        <p:spPr>
          <a:xfrm>
            <a:off x="960120" y="4626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 and carbon results depend on tariff, emission-factor and reduction assumptions.</a:t>
            </a:r>
            <a:endParaRPr lang="en-US" sz="1400" dirty="0"/>
          </a:p>
        </p:txBody>
      </p:sp>
      <p:sp>
        <p:nvSpPr>
          <p:cNvPr id="15" name="Marker 1-4"/>
          <p:cNvSpPr/>
          <p:nvPr/>
        </p:nvSpPr>
        <p:spPr>
          <a:xfrm>
            <a:off x="594360" y="537667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Item head 1-4"/>
          <p:cNvSpPr txBox="1"/>
          <p:nvPr/>
        </p:nvSpPr>
        <p:spPr>
          <a:xfrm>
            <a:off x="960120" y="5303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LLM reliability and cost</a:t>
            </a:r>
            <a:endParaRPr lang="en-US" sz="1600" dirty="0"/>
          </a:p>
        </p:txBody>
      </p:sp>
      <p:sp>
        <p:nvSpPr>
          <p:cNvPr id="17" name="Item text 1-4"/>
          <p:cNvSpPr txBox="1"/>
          <p:nvPr/>
        </p:nvSpPr>
        <p:spPr>
          <a:xfrm>
            <a:off x="960120" y="56327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Provider limits and credentials affect generation and judge runs.</a:t>
            </a:r>
            <a:endParaRPr lang="en-US" sz="1400" dirty="0"/>
          </a:p>
        </p:txBody>
      </p:sp>
      <p:sp>
        <p:nvSpPr>
          <p:cNvPr id="18" name="Column head 2"/>
          <p:cNvSpPr/>
          <p:nvPr/>
        </p:nvSpPr>
        <p:spPr>
          <a:xfrm>
            <a:off x="6217920" y="1463040"/>
            <a:ext cx="539496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9" name="Column title 2"/>
          <p:cNvSpPr txBox="1"/>
          <p:nvPr/>
        </p:nvSpPr>
        <p:spPr>
          <a:xfrm>
            <a:off x="6492240" y="1463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Learnings and next steps</a:t>
            </a:r>
            <a:endParaRPr lang="en-US" sz="2000" dirty="0"/>
          </a:p>
        </p:txBody>
      </p:sp>
      <p:sp>
        <p:nvSpPr>
          <p:cNvPr id="20" name="Marker 2-1"/>
          <p:cNvSpPr/>
          <p:nvPr/>
        </p:nvSpPr>
        <p:spPr>
          <a:xfrm>
            <a:off x="6263640" y="235915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Item head 2-1"/>
          <p:cNvSpPr txBox="1"/>
          <p:nvPr/>
        </p:nvSpPr>
        <p:spPr>
          <a:xfrm>
            <a:off x="662940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Hybrid search balances both</a:t>
            </a:r>
            <a:endParaRPr lang="en-US" sz="1600" dirty="0"/>
          </a:p>
        </p:txBody>
      </p:sp>
      <p:sp>
        <p:nvSpPr>
          <p:cNvPr id="22" name="Item text 2-1"/>
          <p:cNvSpPr txBox="1"/>
          <p:nvPr/>
        </p:nvSpPr>
        <p:spPr>
          <a:xfrm>
            <a:off x="6629400" y="26151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Semantic search captures concepts; keywords catch exact terms.</a:t>
            </a:r>
            <a:endParaRPr lang="en-US" sz="1400" dirty="0"/>
          </a:p>
        </p:txBody>
      </p:sp>
      <p:sp>
        <p:nvSpPr>
          <p:cNvPr id="23" name="Marker 2-2"/>
          <p:cNvSpPr/>
          <p:nvPr/>
        </p:nvSpPr>
        <p:spPr>
          <a:xfrm>
            <a:off x="6263640" y="336499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Item head 2-2"/>
          <p:cNvSpPr txBox="1"/>
          <p:nvPr/>
        </p:nvSpPr>
        <p:spPr>
          <a:xfrm>
            <a:off x="6629400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Fallbacks add resilience</a:t>
            </a:r>
            <a:endParaRPr lang="en-US" sz="1600" dirty="0"/>
          </a:p>
        </p:txBody>
      </p:sp>
      <p:sp>
        <p:nvSpPr>
          <p:cNvPr id="25" name="Item text 2-2"/>
          <p:cNvSpPr txBox="1"/>
          <p:nvPr/>
        </p:nvSpPr>
        <p:spPr>
          <a:xfrm>
            <a:off x="6629400" y="36210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Rule-based paths keep the app usable without an LLM.</a:t>
            </a:r>
            <a:endParaRPr lang="en-US" sz="1400" dirty="0"/>
          </a:p>
        </p:txBody>
      </p:sp>
      <p:sp>
        <p:nvSpPr>
          <p:cNvPr id="26" name="Marker 2-3"/>
          <p:cNvSpPr/>
          <p:nvPr/>
        </p:nvSpPr>
        <p:spPr>
          <a:xfrm>
            <a:off x="6263640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Item head 2-3"/>
          <p:cNvSpPr txBox="1"/>
          <p:nvPr/>
        </p:nvSpPr>
        <p:spPr>
          <a:xfrm>
            <a:off x="662940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Grounding is the gap</a:t>
            </a:r>
            <a:endParaRPr lang="en-US" sz="1600" dirty="0"/>
          </a:p>
        </p:txBody>
      </p:sp>
      <p:sp>
        <p:nvSpPr>
          <p:cNvPr id="28" name="Item text 2-3"/>
          <p:cNvSpPr txBox="1"/>
          <p:nvPr/>
        </p:nvSpPr>
        <p:spPr>
          <a:xfrm>
            <a:off x="6629400" y="4626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Evidence support scored lowest (0.50) in the judge run.</a:t>
            </a:r>
            <a:endParaRPr lang="en-US" sz="1400" dirty="0"/>
          </a:p>
        </p:txBody>
      </p:sp>
      <p:sp>
        <p:nvSpPr>
          <p:cNvPr id="29" name="Marker 2-4"/>
          <p:cNvSpPr/>
          <p:nvPr/>
        </p:nvSpPr>
        <p:spPr>
          <a:xfrm>
            <a:off x="6263640" y="537667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Item head 2-4"/>
          <p:cNvSpPr txBox="1"/>
          <p:nvPr/>
        </p:nvSpPr>
        <p:spPr>
          <a:xfrm>
            <a:off x="6629400" y="5303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Next: broader data</a:t>
            </a:r>
            <a:endParaRPr lang="en-US" sz="1600" dirty="0"/>
          </a:p>
        </p:txBody>
      </p:sp>
      <p:sp>
        <p:nvSpPr>
          <p:cNvPr id="31" name="Item text 2-4"/>
          <p:cNvSpPr txBox="1"/>
          <p:nvPr/>
        </p:nvSpPr>
        <p:spPr>
          <a:xfrm>
            <a:off x="6629400" y="56327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facility datasets, human-annotated tests and measured outcomes.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venia Energy">
  <a:themeElements>
    <a:clrScheme name="Lavenia Energy">
      <a:dk1>
        <a:srgbClr val="1B2A30"/>
      </a:dk1>
      <a:lt1>
        <a:srgbClr val="FFFFFF"/>
      </a:lt1>
      <a:dk2>
        <a:srgbClr val="0B3C49"/>
      </a:dk2>
      <a:lt2>
        <a:srgbClr val="EDF5F3"/>
      </a:lt2>
      <a:accent1>
        <a:srgbClr val="F5A623"/>
      </a:accent1>
      <a:accent2>
        <a:srgbClr val="1C8C7F"/>
      </a:accent2>
      <a:accent3>
        <a:srgbClr val="0B3C49"/>
      </a:accent3>
      <a:accent4>
        <a:srgbClr val="5BB7A9"/>
      </a:accent4>
      <a:accent5>
        <a:srgbClr val="E4572E"/>
      </a:accent5>
      <a:accent6>
        <a:srgbClr val="6C7A89"/>
      </a:accent6>
      <a:hlink>
        <a:srgbClr val="1C8C7F"/>
      </a:hlink>
      <a:folHlink>
        <a:srgbClr val="6C7A89"/>
      </a:folHlink>
    </a:clrScheme>
    <a:fontScheme name="Lavenia Ener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Energy Consumption Optimization Assistant</dc:title>
  <dc:subject>PptxGenJS Presentation</dc:subject>
  <dc:creator>PptxGenJS</dc:creator>
  <cp:lastModifiedBy>PptxGenJS</cp:lastModifiedBy>
  <cp:revision>1</cp:revision>
  <dcterms:created xsi:type="dcterms:W3CDTF">2026-10-10T07:40:44Z</dcterms:created>
  <dcterms:modified xsi:type="dcterms:W3CDTF">2026-10-10T07:40:44Z</dcterms:modified>
</cp:coreProperties>
</file>